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Avg Passage Length (tokens)</a:t>
            </a:r>
          </a:p>
        </c:rich>
      </c:tx>
      <c:layout/>
      <c:overlay val="0"/>
    </c:title>
    <c:autoTitleDeleted val="0"/>
    <c:plotArea>
      <c:layout/>
      <c:barChart>
        <c:barDir val="col"/>
        <c:grouping val="clustered"/>
        <c:varyColors val="0"/>
        <c:ser>
          <c:idx val="0"/>
          <c:order val="0"/>
          <c:tx>
            <c:strRef>
              <c:f>Sheet1!$B$1</c:f>
              <c:strCache>
                <c:ptCount val="1"/>
                <c:pt idx="0">
                  <c:v>Avg Tokens</c:v>
                </c:pt>
              </c:strCache>
            </c:strRef>
          </c:tx>
          <c:spPr>
            <a:solidFill>
              <a:srgbClr val="2563A8"/>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563A8"/>
              </a:solidFill>
              <a:effectLst/>
            </c:spPr>
          </c:dPt>
          <c:dPt>
            <c:idx val="1"/>
            <c:invertIfNegative val="0"/>
            <c:bubble3D val="0"/>
            <c:spPr>
              <a:solidFill>
                <a:srgbClr val="1A2B4A"/>
              </a:solidFill>
              <a:effectLst/>
            </c:spPr>
          </c:dPt>
          <c:cat>
            <c:multiLvlStrRef>
              <c:f>Sheet1!$A$2:$A$3</c:f>
              <c:multiLvlStrCache>
                <c:ptCount val="2"/>
                <c:lvl>
                  <c:pt idx="0">
                    <c:v>Middle School
Passages</c:v>
                  </c:pt>
                  <c:pt idx="1">
                    <c:v>High School
Passages</c:v>
                  </c:pt>
                </c:lvl>
              </c:multiLvlStrCache>
            </c:multiLvlStrRef>
          </c:cat>
          <c:val>
            <c:numRef>
              <c:f>Sheet1!$B$2:$B$3</c:f>
              <c:numCache>
                <c:formatCode>General</c:formatCode>
                <c:ptCount val="2"/>
                <c:pt idx="0">
                  <c:v>185</c:v>
                </c:pt>
                <c:pt idx="1">
                  <c:v>310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7F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Binary Label Distribution</a:t>
            </a:r>
          </a:p>
        </c:rich>
      </c:tx>
      <c:layout/>
      <c:overlay val="0"/>
    </c:title>
    <c:autoTitleDeleted val="0"/>
    <c:plotArea>
      <c:layout/>
      <c:pieChart>
        <c:varyColors val="1"/>
        <c:ser>
          <c:idx val="0"/>
          <c:order val="0"/>
          <c:tx>
            <c:strRef>
              <c:f>Sheet1!$B$1</c:f>
              <c:strCache>
                <c:ptCount val="1"/>
                <c:pt idx="0">
                  <c:v>Distribution</c:v>
                </c:pt>
              </c:strCache>
            </c:strRef>
          </c:tx>
          <c:spPr>
            <a:solidFill>
              <a:schemeClr val="accent1"/>
            </a:solidFill>
            <a:ln w="9525" cap="flat">
              <a:solidFill>
                <a:srgbClr val="F9F9F9"/>
              </a:solidFill>
              <a:prstDash val="solid"/>
              <a:round/>
            </a:ln>
            <a:effectLst/>
          </c:spPr>
          <c:dPt>
            <c:idx val="0"/>
            <c:bubble3D val="0"/>
            <c:spPr>
              <a:solidFill>
                <a:srgbClr val="DC2626"/>
              </a:solidFill>
              <a:effectLst/>
            </c:spPr>
          </c:dPt>
          <c:dPt>
            <c:idx val="1"/>
            <c:bubble3D val="0"/>
            <c:spPr>
              <a:solidFill>
                <a:srgbClr val="059669"/>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Incorrect (75%)</c:v>
                </c:pt>
                <c:pt idx="1">
                  <c:v>Correct (25%)</c:v>
                </c:pt>
              </c:strCache>
            </c:strRef>
          </c:cat>
          <c:val>
            <c:numRef>
              <c:f>Sheet1!$B$2:$B$3</c:f>
              <c:numCache>
                <c:ptCount val="2"/>
                <c:pt idx="0">
                  <c:v>75</c:v>
                </c:pt>
                <c:pt idx="1">
                  <c:v>25</c:v>
                </c:pt>
              </c:numCache>
            </c:numRef>
          </c:val>
        </c:ser>
        <c:firstSliceAng val="0"/>
      </c:pieChart>
      <c:spPr>
        <a:noFill/>
        <a:ln>
          <a:noFill/>
        </a:ln>
        <a:effectLst/>
      </c:spPr>
    </c:plotArea>
    <c:legend>
      <c:legendPos val="b"/>
      <c:overlay val="0"/>
    </c:legend>
    <c:plotVisOnly val="1"/>
    <c:dispBlanksAs val="span"/>
  </c:chart>
  <c:spPr>
    <a:solidFill>
      <a:srgbClr val="F4F7FB"/>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Silhouette Scores (near 0 = poor separation)</a:t>
            </a:r>
          </a:p>
        </c:rich>
      </c:tx>
      <c:layout/>
      <c:overlay val="0"/>
    </c:title>
    <c:autoTitleDeleted val="0"/>
    <c:plotArea>
      <c:layout/>
      <c:barChart>
        <c:barDir val="col"/>
        <c:grouping val="clustered"/>
        <c:varyColors val="0"/>
        <c:ser>
          <c:idx val="0"/>
          <c:order val="0"/>
          <c:tx>
            <c:strRef>
              <c:f>Sheet1!$B$1</c:f>
              <c:strCache>
                <c:ptCount val="1"/>
                <c:pt idx="0">
                  <c:v>Silhouette Score</c:v>
                </c:pt>
              </c:strCache>
            </c:strRef>
          </c:tx>
          <c:spPr>
            <a:solidFill>
              <a:srgbClr val="2563A8"/>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563A8"/>
              </a:solidFill>
              <a:effectLst/>
            </c:spPr>
          </c:dPt>
          <c:dPt>
            <c:idx val="1"/>
            <c:invertIfNegative val="0"/>
            <c:bubble3D val="0"/>
            <c:spPr>
              <a:solidFill>
                <a:srgbClr val="0D8A8A"/>
              </a:solidFill>
              <a:effectLst/>
            </c:spPr>
          </c:dPt>
          <c:cat>
            <c:multiLvlStrRef>
              <c:f>Sheet1!$A$2:$A$3</c:f>
              <c:multiLvlStrCache>
                <c:ptCount val="2"/>
                <c:lvl>
                  <c:pt idx="0">
                    <c:v>K-Means (k=2)</c:v>
                  </c:pt>
                  <c:pt idx="1">
                    <c:v>GMM</c:v>
                  </c:pt>
                </c:lvl>
              </c:multiLvlStrCache>
            </c:multiLvlStrRef>
          </c:cat>
          <c:val>
            <c:numRef>
              <c:f>Sheet1!$B$2:$B$3</c:f>
              <c:numCache>
                <c:formatCode>General</c:formatCode>
                <c:ptCount val="2"/>
                <c:pt idx="0">
                  <c:v>0.035</c:v>
                </c:pt>
                <c:pt idx="1">
                  <c:v>0.058</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0.1"/>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7F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covers our end-to-end classical ML pipeline for reading comprehension and quiz generation, built on the RACE dataset. The system has two core models — Model A for answer verification and Model B for distractor and hint generation — combined into a four-screen Streamlit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agenda for today. We will move from problem definition and dataset through EDA, preprocessing, both models, the interface, and close with limitations and future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RACE dataset is one of the largest English reading comprehension benchmarks. It was built from real exam papers, which means the questions require genuine inference, not just keyword matching. The 3-to-1 class imbalance — three wrong options for every one correct — is a central technical challenge we will return to throughout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summarise the most actionable EDA findings. Left: high school passages are nearly 70% longer than middle school ones, meaning our models must handle variable-length inputs robustly. Right: the 75-25 split in binary labels is the key challenge — any naive classifier that always predicts 'incorrect' reaches 75% accuracy without being useful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design decision was retaining stop words. In reading comprehension, words like 'not' and 'except' reverse the meaning of a sentence and are critical signals. We intentionally did not remove them. The TF-IDF matrix with 50,000 features is the primary input to Model A classifiers; the one-hot encoding is used for Model B's candidate distance computations.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divided into three cleanly separated layers. The Data Layer handles all loading, cleaning, and feature engineering. The Model Layer contains two independent pipelines — Model A for verification and Model B for distractor and hint generation. Both are exposed through the Streamlit UI Layer. This separation means each layer can be replaced or updated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five model types for Model A. Naive Bayes was also tested but predicted only the majority class — macro precision of 0.375 confirms this. Random Forest was selected as the primary classifier. The soft-vote ensemble uses an optimised threshold of 0.49 rather than the default 0.5, which marginally improves recall on the minority correct-answer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Model A. Naive Bayes reports 75% accuracy but a macro precision of 0.375 — meaning it predicts only the majority incorrect class. The class imbalance makes accuracy a deceptive metric. Random Forest has lower accuracy at 64.7% but the highest macro F1 among supervised models at 0.505. Label Propagation is our standout result — it achieves 0.652 macro F1 using only 20% labeled data, which has real practical value in low-annotation educational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B's distractor pipeline has three candidate sources. Passage extraction and OHE cosine retrieval are classical ML approaches. Word2Vec adds semantic reach beyond the passage vocabulary — for example, finding that 'surgeon' is a plausible distractor for 'doctor'. The ML ranker uses 8 features, two of which (f6 and f7) are TF-IDF cosine similarities added in our TF-IDF upgrade. Random Forest outperformed Logistic Regression on both accuracy and F1 and is our primary ranker.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hint generation results are particularly strong. Precision at 3 of 0.89 means that in 89% of test cases, one of the top three ranked hint sentences contains the gold answer-supporting sentence. The classifier F1 of 0.96 shows the LR model almost perfectly identifies relevant sentences. The low distractor BLEU is intentional and correct — a distractor that overlaps heavily with the gold option would be trivially identifiable 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a broad range of statistical techniques. The near-zero silhouette scores for K-Means and GMM are an important negative result — they confirm that TF-IDF feature vectors for this task do not naturally separate into correct vs incorrect clusters, which justifies the need for supervised approaches. Precision at 3 of 0.89 for hints is the standout positive result in Model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clustering results tell an important story: there is no simple geometric boundary between correct and incorrect answers in TF-IDF space. This is by design — good distractors are supposed to look similar to correct options. Label Propagation succeeds precisely because it doesn't assume hard cluster boundaries; instead it propagates labels smoothly along the data manifold, making use of the unlabeled majority of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Streamlit application provides four screens required by the project spec. Screen 1 is the entry point where users paste or load a reading passage. Screen 2 displays the quiz with real-time verification feedback. Screen 3 reveals hints progressively so students must attempt the question before getting help. Screen 4 is intended for instructors — it shows model performance metrics and allows session data export for further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significant technical limitation is the semantic gap in TF-IDF — words with the same meaning but different surface forms appear completely unrelated. This is partially addressed by Word2Vec in Model B but not in Model A. The distractor recall of 19% sounds low but is expected — there are many equally valid distractors that are simply not in the gold set. Human evaluation would give a better picture of true distractor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built a complete end-to-end reading comprehension pipeline using only classical ML. The key insight is that accuracy under class imbalance is a misleading metric — macro F1 is the right choice. Label Propagation is our strongest single result, demonstrating that semi-supervised learning is practical for educational applications where labeled data is scarce. Model B achieves near-production-quality hint ranking. Thank you for listening — we welcome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sp>
      <p:sp>
        <p:nvSpPr>
          <p:cNvPr id="3" name="Text 1"/>
          <p:cNvSpPr/>
          <p:nvPr/>
        </p:nvSpPr>
        <p:spPr>
          <a:xfrm>
            <a:off x="457200" y="164592"/>
            <a:ext cx="8229600" cy="320040"/>
          </a:xfrm>
          <a:prstGeom prst="rect">
            <a:avLst/>
          </a:prstGeom>
          <a:noFill/>
          <a:ln/>
        </p:spPr>
        <p:txBody>
          <a:bodyPr wrap="square" rtlCol="0" anchor="ctr"/>
          <a:lstStyle/>
          <a:p>
            <a:pPr algn="ctr" indent="0" marL="0">
              <a:buNone/>
            </a:pPr>
            <a:r>
              <a:rPr lang="en-US" sz="1150" dirty="0">
                <a:solidFill>
                  <a:srgbClr val="CADCF5"/>
                </a:solidFill>
              </a:rPr>
              <a:t>National University of Computer and Emerging Sciences</a:t>
            </a:r>
            <a:endParaRPr lang="en-US" sz="1150" dirty="0"/>
          </a:p>
        </p:txBody>
      </p:sp>
      <p:sp>
        <p:nvSpPr>
          <p:cNvPr id="4" name="Text 2"/>
          <p:cNvSpPr/>
          <p:nvPr/>
        </p:nvSpPr>
        <p:spPr>
          <a:xfrm>
            <a:off x="457200" y="457200"/>
            <a:ext cx="8229600" cy="256032"/>
          </a:xfrm>
          <a:prstGeom prst="rect">
            <a:avLst/>
          </a:prstGeom>
          <a:noFill/>
          <a:ln/>
        </p:spPr>
        <p:txBody>
          <a:bodyPr wrap="square" rtlCol="0" anchor="ctr"/>
          <a:lstStyle/>
          <a:p>
            <a:pPr algn="ctr" indent="0" marL="0">
              <a:buNone/>
            </a:pPr>
            <a:r>
              <a:rPr lang="en-US" sz="1000" dirty="0">
                <a:solidFill>
                  <a:srgbClr val="8AABB8"/>
                </a:solidFill>
              </a:rPr>
              <a:t>FAST School of Computing — Islamabad Campus</a:t>
            </a:r>
            <a:endParaRPr lang="en-US" sz="1000" dirty="0"/>
          </a:p>
        </p:txBody>
      </p:sp>
      <p:sp>
        <p:nvSpPr>
          <p:cNvPr id="5" name="Shape 3"/>
          <p:cNvSpPr/>
          <p:nvPr/>
        </p:nvSpPr>
        <p:spPr>
          <a:xfrm>
            <a:off x="548640" y="868680"/>
            <a:ext cx="8046720" cy="2286000"/>
          </a:xfrm>
          <a:prstGeom prst="rect">
            <a:avLst/>
          </a:prstGeom>
          <a:solidFill>
            <a:srgbClr val="1E3A5F"/>
          </a:solidFill>
          <a:ln/>
          <a:effectLst>
            <a:outerShdw sx="100000" sy="100000" kx="0" ky="0" algn="bl" rotWithShape="0" blurRad="152400" dist="50800" dir="8100000">
              <a:srgbClr val="000000">
                <a:alpha val="30000"/>
              </a:srgbClr>
            </a:outerShdw>
          </a:effectLst>
        </p:spPr>
      </p:sp>
      <p:sp>
        <p:nvSpPr>
          <p:cNvPr id="6" name="Text 4"/>
          <p:cNvSpPr/>
          <p:nvPr/>
        </p:nvSpPr>
        <p:spPr>
          <a:xfrm>
            <a:off x="548640" y="868680"/>
            <a:ext cx="8046720" cy="2286000"/>
          </a:xfrm>
          <a:prstGeom prst="rect">
            <a:avLst/>
          </a:prstGeom>
          <a:noFill/>
          <a:ln/>
        </p:spPr>
        <p:txBody>
          <a:bodyPr wrap="square" rtlCol="0" anchor="ctr"/>
          <a:lstStyle/>
          <a:p>
            <a:pPr algn="ctr" indent="0" marL="0">
              <a:buNone/>
            </a:pPr>
            <a:r>
              <a:rPr lang="en-US" sz="2800" b="1" dirty="0">
                <a:solidFill>
                  <a:srgbClr val="FFFFFF"/>
                </a:solidFill>
              </a:rPr>
              <a:t>Intelligent Reading Comprehension</a:t>
            </a:r>
            <a:endParaRPr lang="en-US" sz="2800" dirty="0"/>
          </a:p>
          <a:p>
            <a:pPr algn="ctr" indent="0" marL="0">
              <a:buNone/>
            </a:pPr>
            <a:r>
              <a:rPr lang="en-US" sz="2800" b="1" dirty="0">
                <a:solidFill>
                  <a:srgbClr val="FFFFFF"/>
                </a:solidFill>
              </a:rPr>
              <a:t>and Quiz Generation System</a:t>
            </a:r>
            <a:endParaRPr lang="en-US" sz="2800" dirty="0"/>
          </a:p>
        </p:txBody>
      </p:sp>
      <p:sp>
        <p:nvSpPr>
          <p:cNvPr id="7" name="Text 5"/>
          <p:cNvSpPr/>
          <p:nvPr/>
        </p:nvSpPr>
        <p:spPr>
          <a:xfrm>
            <a:off x="548640" y="3200400"/>
            <a:ext cx="8046720" cy="411480"/>
          </a:xfrm>
          <a:prstGeom prst="rect">
            <a:avLst/>
          </a:prstGeom>
          <a:noFill/>
          <a:ln/>
        </p:spPr>
        <p:txBody>
          <a:bodyPr wrap="square" rtlCol="0" anchor="ctr"/>
          <a:lstStyle/>
          <a:p>
            <a:pPr algn="ctr" indent="0" marL="0">
              <a:buNone/>
            </a:pPr>
            <a:r>
              <a:rPr lang="en-US" sz="1600" i="1" dirty="0">
                <a:solidFill>
                  <a:srgbClr val="F59E0B"/>
                </a:solidFill>
              </a:rPr>
              <a:t>Using Classical Machine Learning &amp; Neural Networks</a:t>
            </a:r>
            <a:endParaRPr lang="en-US" sz="1600" dirty="0"/>
          </a:p>
        </p:txBody>
      </p:sp>
      <p:sp>
        <p:nvSpPr>
          <p:cNvPr id="8" name="Shape 6"/>
          <p:cNvSpPr/>
          <p:nvPr/>
        </p:nvSpPr>
        <p:spPr>
          <a:xfrm>
            <a:off x="1828800" y="3703320"/>
            <a:ext cx="5486400" cy="0"/>
          </a:xfrm>
          <a:prstGeom prst="line">
            <a:avLst/>
          </a:prstGeom>
          <a:noFill/>
          <a:ln w="19050">
            <a:solidFill>
              <a:srgbClr val="2563A8"/>
            </a:solidFill>
            <a:prstDash val="solid"/>
          </a:ln>
        </p:spPr>
      </p:sp>
      <p:sp>
        <p:nvSpPr>
          <p:cNvPr id="9" name="Text 7"/>
          <p:cNvSpPr/>
          <p:nvPr/>
        </p:nvSpPr>
        <p:spPr>
          <a:xfrm>
            <a:off x="457200" y="3822192"/>
            <a:ext cx="8229600" cy="292608"/>
          </a:xfrm>
          <a:prstGeom prst="rect">
            <a:avLst/>
          </a:prstGeom>
          <a:noFill/>
          <a:ln/>
        </p:spPr>
        <p:txBody>
          <a:bodyPr wrap="square" rtlCol="0" anchor="ctr"/>
          <a:lstStyle/>
          <a:p>
            <a:pPr algn="ctr" indent="0" marL="0">
              <a:buNone/>
            </a:pPr>
            <a:r>
              <a:rPr lang="en-US" sz="1150" dirty="0">
                <a:solidFill>
                  <a:srgbClr val="CADCF5"/>
                </a:solidFill>
              </a:rPr>
              <a:t>Muhammad Talha Qamar  23i-0013  ·  Taaha Zaman Khan  22i-1377</a:t>
            </a:r>
            <a:endParaRPr lang="en-US" sz="1150" dirty="0"/>
          </a:p>
        </p:txBody>
      </p:sp>
      <p:sp>
        <p:nvSpPr>
          <p:cNvPr id="10" name="Text 8"/>
          <p:cNvSpPr/>
          <p:nvPr/>
        </p:nvSpPr>
        <p:spPr>
          <a:xfrm>
            <a:off x="457200" y="4133088"/>
            <a:ext cx="8229600" cy="256032"/>
          </a:xfrm>
          <a:prstGeom prst="rect">
            <a:avLst/>
          </a:prstGeom>
          <a:noFill/>
          <a:ln/>
        </p:spPr>
        <p:txBody>
          <a:bodyPr wrap="square" rtlCol="0" anchor="ctr"/>
          <a:lstStyle/>
          <a:p>
            <a:pPr algn="ctr" indent="0" marL="0">
              <a:buNone/>
            </a:pPr>
            <a:r>
              <a:rPr lang="en-US" sz="1050" dirty="0">
                <a:solidFill>
                  <a:srgbClr val="8AABB8"/>
                </a:solidFill>
              </a:rPr>
              <a:t>Artificial Intelligence — BS (CS) Spring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Agenda</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2 / 15</a:t>
            </a:r>
            <a:endParaRPr lang="en-US" sz="800" dirty="0"/>
          </a:p>
        </p:txBody>
      </p:sp>
      <p:sp>
        <p:nvSpPr>
          <p:cNvPr id="7" name="Shape 5"/>
          <p:cNvSpPr/>
          <p:nvPr/>
        </p:nvSpPr>
        <p:spPr>
          <a:xfrm>
            <a:off x="320040" y="960120"/>
            <a:ext cx="3931920" cy="402336"/>
          </a:xfrm>
          <a:prstGeom prst="rect">
            <a:avLst/>
          </a:prstGeom>
          <a:solidFill>
            <a:srgbClr val="1A2B4A"/>
          </a:solidFill>
          <a:ln w="12700">
            <a:solidFill>
              <a:srgbClr val="1A2B4A"/>
            </a:solidFill>
            <a:prstDash val="solid"/>
          </a:ln>
        </p:spPr>
      </p:sp>
      <p:sp>
        <p:nvSpPr>
          <p:cNvPr id="8" name="Text 6"/>
          <p:cNvSpPr/>
          <p:nvPr/>
        </p:nvSpPr>
        <p:spPr>
          <a:xfrm>
            <a:off x="320040" y="960120"/>
            <a:ext cx="3931920" cy="402336"/>
          </a:xfrm>
          <a:prstGeom prst="rect">
            <a:avLst/>
          </a:prstGeom>
          <a:noFill/>
          <a:ln/>
        </p:spPr>
        <p:txBody>
          <a:bodyPr wrap="square" lIns="0" tIns="0" rIns="0" bIns="0" rtlCol="0" anchor="ctr"/>
          <a:lstStyle/>
          <a:p>
            <a:pPr indent="0" marL="0">
              <a:buNone/>
            </a:pPr>
            <a:r>
              <a:rPr lang="en-US" sz="1250" b="1" dirty="0">
                <a:solidFill>
                  <a:srgbClr val="FFFFFF"/>
                </a:solidFill>
              </a:rPr>
              <a:t>  01   Problem Statement &amp; Dataset</a:t>
            </a:r>
            <a:endParaRPr lang="en-US" sz="1250" dirty="0"/>
          </a:p>
        </p:txBody>
      </p:sp>
      <p:sp>
        <p:nvSpPr>
          <p:cNvPr id="9" name="Shape 7"/>
          <p:cNvSpPr/>
          <p:nvPr/>
        </p:nvSpPr>
        <p:spPr>
          <a:xfrm>
            <a:off x="320040" y="1453896"/>
            <a:ext cx="3931920" cy="402336"/>
          </a:xfrm>
          <a:prstGeom prst="rect">
            <a:avLst/>
          </a:prstGeom>
          <a:solidFill>
            <a:srgbClr val="1A2B4A"/>
          </a:solidFill>
          <a:ln w="12700">
            <a:solidFill>
              <a:srgbClr val="1A2B4A"/>
            </a:solidFill>
            <a:prstDash val="solid"/>
          </a:ln>
        </p:spPr>
      </p:sp>
      <p:sp>
        <p:nvSpPr>
          <p:cNvPr id="10" name="Text 8"/>
          <p:cNvSpPr/>
          <p:nvPr/>
        </p:nvSpPr>
        <p:spPr>
          <a:xfrm>
            <a:off x="320040" y="1453896"/>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02   Exploratory Data Analysis</a:t>
            </a:r>
            <a:endParaRPr lang="en-US" sz="1250" dirty="0"/>
          </a:p>
        </p:txBody>
      </p:sp>
      <p:sp>
        <p:nvSpPr>
          <p:cNvPr id="11" name="Shape 9"/>
          <p:cNvSpPr/>
          <p:nvPr/>
        </p:nvSpPr>
        <p:spPr>
          <a:xfrm>
            <a:off x="320040" y="1947672"/>
            <a:ext cx="3931920" cy="402336"/>
          </a:xfrm>
          <a:prstGeom prst="rect">
            <a:avLst/>
          </a:prstGeom>
          <a:solidFill>
            <a:srgbClr val="1A2B4A"/>
          </a:solidFill>
          <a:ln w="12700">
            <a:solidFill>
              <a:srgbClr val="1A2B4A"/>
            </a:solidFill>
            <a:prstDash val="solid"/>
          </a:ln>
        </p:spPr>
      </p:sp>
      <p:sp>
        <p:nvSpPr>
          <p:cNvPr id="12" name="Text 10"/>
          <p:cNvSpPr/>
          <p:nvPr/>
        </p:nvSpPr>
        <p:spPr>
          <a:xfrm>
            <a:off x="320040" y="1947672"/>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03   Preprocessing Pipeline</a:t>
            </a:r>
            <a:endParaRPr lang="en-US" sz="1250" dirty="0"/>
          </a:p>
        </p:txBody>
      </p:sp>
      <p:sp>
        <p:nvSpPr>
          <p:cNvPr id="13" name="Shape 11"/>
          <p:cNvSpPr/>
          <p:nvPr/>
        </p:nvSpPr>
        <p:spPr>
          <a:xfrm>
            <a:off x="320040" y="2441448"/>
            <a:ext cx="3931920" cy="402336"/>
          </a:xfrm>
          <a:prstGeom prst="rect">
            <a:avLst/>
          </a:prstGeom>
          <a:solidFill>
            <a:srgbClr val="1A2B4A"/>
          </a:solidFill>
          <a:ln w="12700">
            <a:solidFill>
              <a:srgbClr val="1A2B4A"/>
            </a:solidFill>
            <a:prstDash val="solid"/>
          </a:ln>
        </p:spPr>
      </p:sp>
      <p:sp>
        <p:nvSpPr>
          <p:cNvPr id="14" name="Text 12"/>
          <p:cNvSpPr/>
          <p:nvPr/>
        </p:nvSpPr>
        <p:spPr>
          <a:xfrm>
            <a:off x="320040" y="2441448"/>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04   System Architecture</a:t>
            </a:r>
            <a:endParaRPr lang="en-US" sz="1250" dirty="0"/>
          </a:p>
        </p:txBody>
      </p:sp>
      <p:sp>
        <p:nvSpPr>
          <p:cNvPr id="15" name="Shape 13"/>
          <p:cNvSpPr/>
          <p:nvPr/>
        </p:nvSpPr>
        <p:spPr>
          <a:xfrm>
            <a:off x="320040" y="2935224"/>
            <a:ext cx="3931920" cy="402336"/>
          </a:xfrm>
          <a:prstGeom prst="rect">
            <a:avLst/>
          </a:prstGeom>
          <a:solidFill>
            <a:srgbClr val="1A2B4A"/>
          </a:solidFill>
          <a:ln w="12700">
            <a:solidFill>
              <a:srgbClr val="1A2B4A"/>
            </a:solidFill>
            <a:prstDash val="solid"/>
          </a:ln>
        </p:spPr>
      </p:sp>
      <p:sp>
        <p:nvSpPr>
          <p:cNvPr id="16" name="Text 14"/>
          <p:cNvSpPr/>
          <p:nvPr/>
        </p:nvSpPr>
        <p:spPr>
          <a:xfrm>
            <a:off x="320040" y="2935224"/>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05   Model A — Answer Verification</a:t>
            </a:r>
            <a:endParaRPr lang="en-US" sz="1250" dirty="0"/>
          </a:p>
        </p:txBody>
      </p:sp>
      <p:sp>
        <p:nvSpPr>
          <p:cNvPr id="17" name="Shape 15"/>
          <p:cNvSpPr/>
          <p:nvPr/>
        </p:nvSpPr>
        <p:spPr>
          <a:xfrm>
            <a:off x="4617720" y="960120"/>
            <a:ext cx="3931920" cy="402336"/>
          </a:xfrm>
          <a:prstGeom prst="rect">
            <a:avLst/>
          </a:prstGeom>
          <a:solidFill>
            <a:srgbClr val="2563A8"/>
          </a:solidFill>
          <a:ln w="12700">
            <a:solidFill>
              <a:srgbClr val="2563A8"/>
            </a:solidFill>
            <a:prstDash val="solid"/>
          </a:ln>
        </p:spPr>
      </p:sp>
      <p:sp>
        <p:nvSpPr>
          <p:cNvPr id="18" name="Text 16"/>
          <p:cNvSpPr/>
          <p:nvPr/>
        </p:nvSpPr>
        <p:spPr>
          <a:xfrm>
            <a:off x="4617720" y="960120"/>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06   Model A — Results &amp; Key Insights</a:t>
            </a:r>
            <a:endParaRPr lang="en-US" sz="1250" dirty="0"/>
          </a:p>
        </p:txBody>
      </p:sp>
      <p:sp>
        <p:nvSpPr>
          <p:cNvPr id="19" name="Shape 17"/>
          <p:cNvSpPr/>
          <p:nvPr/>
        </p:nvSpPr>
        <p:spPr>
          <a:xfrm>
            <a:off x="4617720" y="1453896"/>
            <a:ext cx="3931920" cy="402336"/>
          </a:xfrm>
          <a:prstGeom prst="rect">
            <a:avLst/>
          </a:prstGeom>
          <a:solidFill>
            <a:srgbClr val="2563A8"/>
          </a:solidFill>
          <a:ln w="12700">
            <a:solidFill>
              <a:srgbClr val="2563A8"/>
            </a:solidFill>
            <a:prstDash val="solid"/>
          </a:ln>
        </p:spPr>
      </p:sp>
      <p:sp>
        <p:nvSpPr>
          <p:cNvPr id="20" name="Text 18"/>
          <p:cNvSpPr/>
          <p:nvPr/>
        </p:nvSpPr>
        <p:spPr>
          <a:xfrm>
            <a:off x="4617720" y="1453896"/>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07   Model B — Distractor Generation</a:t>
            </a:r>
            <a:endParaRPr lang="en-US" sz="1250" dirty="0"/>
          </a:p>
        </p:txBody>
      </p:sp>
      <p:sp>
        <p:nvSpPr>
          <p:cNvPr id="21" name="Shape 19"/>
          <p:cNvSpPr/>
          <p:nvPr/>
        </p:nvSpPr>
        <p:spPr>
          <a:xfrm>
            <a:off x="4617720" y="1947672"/>
            <a:ext cx="3931920" cy="402336"/>
          </a:xfrm>
          <a:prstGeom prst="rect">
            <a:avLst/>
          </a:prstGeom>
          <a:solidFill>
            <a:srgbClr val="2563A8"/>
          </a:solidFill>
          <a:ln w="12700">
            <a:solidFill>
              <a:srgbClr val="2563A8"/>
            </a:solidFill>
            <a:prstDash val="solid"/>
          </a:ln>
        </p:spPr>
      </p:sp>
      <p:sp>
        <p:nvSpPr>
          <p:cNvPr id="22" name="Text 20"/>
          <p:cNvSpPr/>
          <p:nvPr/>
        </p:nvSpPr>
        <p:spPr>
          <a:xfrm>
            <a:off x="4617720" y="1947672"/>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08   Model B — Hint Generation &amp; Results</a:t>
            </a:r>
            <a:endParaRPr lang="en-US" sz="1250" dirty="0"/>
          </a:p>
        </p:txBody>
      </p:sp>
      <p:sp>
        <p:nvSpPr>
          <p:cNvPr id="23" name="Shape 21"/>
          <p:cNvSpPr/>
          <p:nvPr/>
        </p:nvSpPr>
        <p:spPr>
          <a:xfrm>
            <a:off x="4617720" y="2441448"/>
            <a:ext cx="3931920" cy="402336"/>
          </a:xfrm>
          <a:prstGeom prst="rect">
            <a:avLst/>
          </a:prstGeom>
          <a:solidFill>
            <a:srgbClr val="2563A8"/>
          </a:solidFill>
          <a:ln w="12700">
            <a:solidFill>
              <a:srgbClr val="2563A8"/>
            </a:solidFill>
            <a:prstDash val="solid"/>
          </a:ln>
        </p:spPr>
      </p:sp>
      <p:sp>
        <p:nvSpPr>
          <p:cNvPr id="24" name="Text 22"/>
          <p:cNvSpPr/>
          <p:nvPr/>
        </p:nvSpPr>
        <p:spPr>
          <a:xfrm>
            <a:off x="4617720" y="2441448"/>
            <a:ext cx="3931920" cy="402336"/>
          </a:xfrm>
          <a:prstGeom prst="rect">
            <a:avLst/>
          </a:prstGeom>
          <a:noFill/>
          <a:ln/>
        </p:spPr>
        <p:txBody>
          <a:bodyPr wrap="square" lIns="0" tIns="0" rIns="0" bIns="0" rtlCol="0" anchor="ctr"/>
          <a:lstStyle/>
          <a:p>
            <a:pPr indent="0" marL="0">
              <a:buNone/>
            </a:pPr>
            <a:r>
              <a:rPr lang="en-US" sz="1250" dirty="0">
                <a:solidFill>
                  <a:srgbClr val="FFFFFF"/>
                </a:solidFill>
              </a:rPr>
              <a:t>  09   User Interface</a:t>
            </a:r>
            <a:endParaRPr lang="en-US" sz="1250" dirty="0"/>
          </a:p>
        </p:txBody>
      </p:sp>
      <p:sp>
        <p:nvSpPr>
          <p:cNvPr id="25" name="Shape 23"/>
          <p:cNvSpPr/>
          <p:nvPr/>
        </p:nvSpPr>
        <p:spPr>
          <a:xfrm>
            <a:off x="4617720" y="2935224"/>
            <a:ext cx="3931920" cy="402336"/>
          </a:xfrm>
          <a:prstGeom prst="rect">
            <a:avLst/>
          </a:prstGeom>
          <a:solidFill>
            <a:srgbClr val="2563A8"/>
          </a:solidFill>
          <a:ln w="12700">
            <a:solidFill>
              <a:srgbClr val="2563A8"/>
            </a:solidFill>
            <a:prstDash val="solid"/>
          </a:ln>
        </p:spPr>
      </p:sp>
      <p:sp>
        <p:nvSpPr>
          <p:cNvPr id="26" name="Text 24"/>
          <p:cNvSpPr/>
          <p:nvPr/>
        </p:nvSpPr>
        <p:spPr>
          <a:xfrm>
            <a:off x="4617720" y="2935224"/>
            <a:ext cx="3931920" cy="402336"/>
          </a:xfrm>
          <a:prstGeom prst="rect">
            <a:avLst/>
          </a:prstGeom>
          <a:noFill/>
          <a:ln/>
        </p:spPr>
        <p:txBody>
          <a:bodyPr wrap="square" lIns="0" tIns="0" rIns="0" bIns="0" rtlCol="0" anchor="ctr"/>
          <a:lstStyle/>
          <a:p>
            <a:pPr indent="0" marL="0">
              <a:buNone/>
            </a:pPr>
            <a:r>
              <a:rPr lang="en-US" sz="1250" dirty="0">
                <a:solidFill>
                  <a:srgbClr val="FFFFFF"/>
                </a:solidFill>
              </a:rPr>
              <a:t>  10   Limitations, Future Work &amp; Conclusion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Problem Statement &amp; RACE Dataset</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3 / 15</a:t>
            </a:r>
            <a:endParaRPr lang="en-US" sz="800" dirty="0"/>
          </a:p>
        </p:txBody>
      </p:sp>
      <p:sp>
        <p:nvSpPr>
          <p:cNvPr id="7" name="Shape 5"/>
          <p:cNvSpPr/>
          <p:nvPr/>
        </p:nvSpPr>
        <p:spPr>
          <a:xfrm>
            <a:off x="320040" y="914400"/>
            <a:ext cx="4114800" cy="3383280"/>
          </a:xfrm>
          <a:prstGeom prst="rect">
            <a:avLst/>
          </a:prstGeom>
          <a:solidFill>
            <a:srgbClr val="F4F7FB"/>
          </a:solidFill>
          <a:ln w="12700">
            <a:solidFill>
              <a:srgbClr val="E8EDF5"/>
            </a:solidFill>
            <a:prstDash val="solid"/>
          </a:ln>
        </p:spPr>
      </p:sp>
      <p:sp>
        <p:nvSpPr>
          <p:cNvPr id="8" name="Text 6"/>
          <p:cNvSpPr/>
          <p:nvPr/>
        </p:nvSpPr>
        <p:spPr>
          <a:xfrm>
            <a:off x="411480" y="960120"/>
            <a:ext cx="3931920" cy="347472"/>
          </a:xfrm>
          <a:prstGeom prst="rect">
            <a:avLst/>
          </a:prstGeom>
          <a:noFill/>
          <a:ln/>
        </p:spPr>
        <p:txBody>
          <a:bodyPr wrap="square" rtlCol="0" anchor="ctr"/>
          <a:lstStyle/>
          <a:p>
            <a:pPr indent="0" marL="0">
              <a:buNone/>
            </a:pPr>
            <a:r>
              <a:rPr lang="en-US" sz="1300" b="1" dirty="0">
                <a:solidFill>
                  <a:srgbClr val="2563A8"/>
                </a:solidFill>
              </a:rPr>
              <a:t>Why This Problem?</a:t>
            </a:r>
            <a:endParaRPr lang="en-US" sz="1300" dirty="0"/>
          </a:p>
        </p:txBody>
      </p:sp>
      <p:sp>
        <p:nvSpPr>
          <p:cNvPr id="9" name="Text 7"/>
          <p:cNvSpPr/>
          <p:nvPr/>
        </p:nvSpPr>
        <p:spPr>
          <a:xfrm>
            <a:off x="411480" y="1353312"/>
            <a:ext cx="3931920" cy="2743200"/>
          </a:xfrm>
          <a:prstGeom prst="rect">
            <a:avLst/>
          </a:prstGeom>
          <a:noFill/>
          <a:ln/>
        </p:spPr>
        <p:txBody>
          <a:bodyPr wrap="square" rtlCol="0" anchor="ctr"/>
          <a:lstStyle/>
          <a:p>
            <a:pPr marL="342900" indent="-342900">
              <a:buSzPct val="100000"/>
              <a:buChar char="•"/>
            </a:pPr>
            <a:r>
              <a:rPr lang="en-US" sz="1350" dirty="0">
                <a:solidFill>
                  <a:srgbClr val="1E293B"/>
                </a:solidFill>
              </a:rPr>
              <a:t>Manual quiz creation is expensive &amp; inconsistent</a:t>
            </a:r>
            <a:endParaRPr lang="en-US" sz="1350" dirty="0"/>
          </a:p>
          <a:p>
            <a:pPr marL="342900" indent="-342900">
              <a:buSzPct val="100000"/>
              <a:buChar char="•"/>
            </a:pPr>
            <a:r>
              <a:rPr lang="en-US" sz="1350" dirty="0">
                <a:solidFill>
                  <a:srgbClr val="1E293B"/>
                </a:solidFill>
              </a:rPr>
              <a:t>Reading comprehension assessment at scale is difficult</a:t>
            </a:r>
            <a:endParaRPr lang="en-US" sz="1350" dirty="0"/>
          </a:p>
          <a:p>
            <a:pPr marL="342900" indent="-342900">
              <a:buSzPct val="100000"/>
              <a:buChar char="•"/>
            </a:pPr>
            <a:r>
              <a:rPr lang="en-US" sz="1350" dirty="0">
                <a:solidFill>
                  <a:srgbClr val="1E293B"/>
                </a:solidFill>
              </a:rPr>
              <a:t>Need for plausible wrong options (distractors) — not just correct answers</a:t>
            </a:r>
            <a:endParaRPr lang="en-US" sz="1350" dirty="0"/>
          </a:p>
          <a:p>
            <a:pPr marL="342900" indent="-342900">
              <a:buSzPct val="100000"/>
              <a:buChar char="•"/>
            </a:pPr>
            <a:r>
              <a:rPr lang="en-US" sz="1350" dirty="0">
                <a:solidFill>
                  <a:srgbClr val="1E293B"/>
                </a:solidFill>
              </a:rPr>
              <a:t>Graduated hints improve learning without giving answers away</a:t>
            </a:r>
            <a:endParaRPr lang="en-US" sz="1350" dirty="0"/>
          </a:p>
          <a:p>
            <a:pPr marL="342900" indent="-342900">
              <a:buSzPct val="100000"/>
              <a:buChar char="•"/>
            </a:pPr>
            <a:r>
              <a:rPr lang="en-US" sz="1350" dirty="0">
                <a:solidFill>
                  <a:srgbClr val="1E293B"/>
                </a:solidFill>
              </a:rPr>
              <a:t>Classical ML must handle large sparse text features efficiently</a:t>
            </a:r>
            <a:endParaRPr lang="en-US" sz="1350" dirty="0"/>
          </a:p>
        </p:txBody>
      </p:sp>
      <p:sp>
        <p:nvSpPr>
          <p:cNvPr id="10" name="Shape 8"/>
          <p:cNvSpPr/>
          <p:nvPr/>
        </p:nvSpPr>
        <p:spPr>
          <a:xfrm>
            <a:off x="4709160" y="914400"/>
            <a:ext cx="4114800" cy="3383280"/>
          </a:xfrm>
          <a:prstGeom prst="rect">
            <a:avLst/>
          </a:prstGeom>
          <a:solidFill>
            <a:srgbClr val="F4F7FB"/>
          </a:solidFill>
          <a:ln w="12700">
            <a:solidFill>
              <a:srgbClr val="E8EDF5"/>
            </a:solidFill>
            <a:prstDash val="solid"/>
          </a:ln>
        </p:spPr>
      </p:sp>
      <p:sp>
        <p:nvSpPr>
          <p:cNvPr id="11" name="Text 9"/>
          <p:cNvSpPr/>
          <p:nvPr/>
        </p:nvSpPr>
        <p:spPr>
          <a:xfrm>
            <a:off x="4800600" y="960120"/>
            <a:ext cx="3931920" cy="347472"/>
          </a:xfrm>
          <a:prstGeom prst="rect">
            <a:avLst/>
          </a:prstGeom>
          <a:noFill/>
          <a:ln/>
        </p:spPr>
        <p:txBody>
          <a:bodyPr wrap="square" rtlCol="0" anchor="ctr"/>
          <a:lstStyle/>
          <a:p>
            <a:pPr indent="0" marL="0">
              <a:buNone/>
            </a:pPr>
            <a:r>
              <a:rPr lang="en-US" sz="1300" b="1" dirty="0">
                <a:solidFill>
                  <a:srgbClr val="2563A8"/>
                </a:solidFill>
              </a:rPr>
              <a:t>RACE Dataset  (Lai et al., EMNLP 2017)</a:t>
            </a:r>
            <a:endParaRPr lang="en-US" sz="1300" dirty="0"/>
          </a:p>
        </p:txBody>
      </p:sp>
      <p:sp>
        <p:nvSpPr>
          <p:cNvPr id="12" name="Shape 10"/>
          <p:cNvSpPr/>
          <p:nvPr/>
        </p:nvSpPr>
        <p:spPr>
          <a:xfrm>
            <a:off x="4800600" y="1371600"/>
            <a:ext cx="1143000" cy="868680"/>
          </a:xfrm>
          <a:prstGeom prst="rect">
            <a:avLst/>
          </a:prstGeom>
          <a:solidFill>
            <a:srgbClr val="1A2B4A"/>
          </a:solidFill>
          <a:ln/>
          <a:effectLst>
            <a:outerShdw sx="100000" sy="100000" kx="0" ky="0" algn="bl" rotWithShape="0" blurRad="63500" dist="25400" dir="8100000">
              <a:srgbClr val="000000">
                <a:alpha val="10000"/>
              </a:srgbClr>
            </a:outerShdw>
          </a:effectLst>
        </p:spPr>
      </p:sp>
      <p:sp>
        <p:nvSpPr>
          <p:cNvPr id="13" name="Text 11"/>
          <p:cNvSpPr/>
          <p:nvPr/>
        </p:nvSpPr>
        <p:spPr>
          <a:xfrm>
            <a:off x="4800600" y="1426464"/>
            <a:ext cx="1143000" cy="495148"/>
          </a:xfrm>
          <a:prstGeom prst="rect">
            <a:avLst/>
          </a:prstGeom>
          <a:noFill/>
          <a:ln/>
        </p:spPr>
        <p:txBody>
          <a:bodyPr wrap="square" lIns="0" tIns="0" rIns="0" bIns="0" rtlCol="0" anchor="b"/>
          <a:lstStyle/>
          <a:p>
            <a:pPr algn="ctr" indent="0" marL="0">
              <a:buNone/>
            </a:pPr>
            <a:r>
              <a:rPr lang="en-US" sz="2600" b="1" dirty="0">
                <a:solidFill>
                  <a:srgbClr val="FFFFFF"/>
                </a:solidFill>
              </a:rPr>
              <a:t>28K+</a:t>
            </a:r>
            <a:endParaRPr lang="en-US" sz="2600" dirty="0"/>
          </a:p>
        </p:txBody>
      </p:sp>
      <p:sp>
        <p:nvSpPr>
          <p:cNvPr id="14" name="Text 12"/>
          <p:cNvSpPr/>
          <p:nvPr/>
        </p:nvSpPr>
        <p:spPr>
          <a:xfrm>
            <a:off x="4800600" y="1875434"/>
            <a:ext cx="1143000" cy="330098"/>
          </a:xfrm>
          <a:prstGeom prst="rect">
            <a:avLst/>
          </a:prstGeom>
          <a:noFill/>
          <a:ln/>
        </p:spPr>
        <p:txBody>
          <a:bodyPr wrap="square" lIns="0" tIns="0" rIns="0" bIns="0" rtlCol="0" anchor="t"/>
          <a:lstStyle/>
          <a:p>
            <a:pPr algn="ctr" indent="0" marL="0">
              <a:buNone/>
            </a:pPr>
            <a:r>
              <a:rPr lang="en-US" sz="950" dirty="0">
                <a:solidFill>
                  <a:srgbClr val="CADCF5"/>
                </a:solidFill>
              </a:rPr>
              <a:t>Passages</a:t>
            </a:r>
            <a:endParaRPr lang="en-US" sz="950" dirty="0"/>
          </a:p>
        </p:txBody>
      </p:sp>
      <p:sp>
        <p:nvSpPr>
          <p:cNvPr id="15" name="Shape 13"/>
          <p:cNvSpPr/>
          <p:nvPr/>
        </p:nvSpPr>
        <p:spPr>
          <a:xfrm>
            <a:off x="6080760" y="1371600"/>
            <a:ext cx="1143000" cy="868680"/>
          </a:xfrm>
          <a:prstGeom prst="rect">
            <a:avLst/>
          </a:prstGeom>
          <a:solidFill>
            <a:srgbClr val="2563A8"/>
          </a:solidFill>
          <a:ln/>
          <a:effectLst>
            <a:outerShdw sx="100000" sy="100000" kx="0" ky="0" algn="bl" rotWithShape="0" blurRad="63500" dist="25400" dir="8100000">
              <a:srgbClr val="000000">
                <a:alpha val="10000"/>
              </a:srgbClr>
            </a:outerShdw>
          </a:effectLst>
        </p:spPr>
      </p:sp>
      <p:sp>
        <p:nvSpPr>
          <p:cNvPr id="16" name="Text 14"/>
          <p:cNvSpPr/>
          <p:nvPr/>
        </p:nvSpPr>
        <p:spPr>
          <a:xfrm>
            <a:off x="6080760" y="1426464"/>
            <a:ext cx="1143000" cy="495148"/>
          </a:xfrm>
          <a:prstGeom prst="rect">
            <a:avLst/>
          </a:prstGeom>
          <a:noFill/>
          <a:ln/>
        </p:spPr>
        <p:txBody>
          <a:bodyPr wrap="square" lIns="0" tIns="0" rIns="0" bIns="0" rtlCol="0" anchor="b"/>
          <a:lstStyle/>
          <a:p>
            <a:pPr algn="ctr" indent="0" marL="0">
              <a:buNone/>
            </a:pPr>
            <a:r>
              <a:rPr lang="en-US" sz="2600" b="1" dirty="0">
                <a:solidFill>
                  <a:srgbClr val="FFFFFF"/>
                </a:solidFill>
              </a:rPr>
              <a:t>100K</a:t>
            </a:r>
            <a:endParaRPr lang="en-US" sz="2600" dirty="0"/>
          </a:p>
        </p:txBody>
      </p:sp>
      <p:sp>
        <p:nvSpPr>
          <p:cNvPr id="17" name="Text 15"/>
          <p:cNvSpPr/>
          <p:nvPr/>
        </p:nvSpPr>
        <p:spPr>
          <a:xfrm>
            <a:off x="6080760" y="1875434"/>
            <a:ext cx="1143000" cy="330098"/>
          </a:xfrm>
          <a:prstGeom prst="rect">
            <a:avLst/>
          </a:prstGeom>
          <a:noFill/>
          <a:ln/>
        </p:spPr>
        <p:txBody>
          <a:bodyPr wrap="square" lIns="0" tIns="0" rIns="0" bIns="0" rtlCol="0" anchor="t"/>
          <a:lstStyle/>
          <a:p>
            <a:pPr algn="ctr" indent="0" marL="0">
              <a:buNone/>
            </a:pPr>
            <a:r>
              <a:rPr lang="en-US" sz="950" dirty="0">
                <a:solidFill>
                  <a:srgbClr val="CADCF5"/>
                </a:solidFill>
              </a:rPr>
              <a:t>Questions</a:t>
            </a:r>
            <a:endParaRPr lang="en-US" sz="950" dirty="0"/>
          </a:p>
        </p:txBody>
      </p:sp>
      <p:sp>
        <p:nvSpPr>
          <p:cNvPr id="18" name="Shape 16"/>
          <p:cNvSpPr/>
          <p:nvPr/>
        </p:nvSpPr>
        <p:spPr>
          <a:xfrm>
            <a:off x="7360920" y="1371600"/>
            <a:ext cx="1143000" cy="868680"/>
          </a:xfrm>
          <a:prstGeom prst="rect">
            <a:avLst/>
          </a:prstGeom>
          <a:solidFill>
            <a:srgbClr val="0D8A8A"/>
          </a:solidFill>
          <a:ln/>
          <a:effectLst>
            <a:outerShdw sx="100000" sy="100000" kx="0" ky="0" algn="bl" rotWithShape="0" blurRad="63500" dist="25400" dir="8100000">
              <a:srgbClr val="000000">
                <a:alpha val="10000"/>
              </a:srgbClr>
            </a:outerShdw>
          </a:effectLst>
        </p:spPr>
      </p:sp>
      <p:sp>
        <p:nvSpPr>
          <p:cNvPr id="19" name="Text 17"/>
          <p:cNvSpPr/>
          <p:nvPr/>
        </p:nvSpPr>
        <p:spPr>
          <a:xfrm>
            <a:off x="7360920" y="1426464"/>
            <a:ext cx="1143000" cy="495148"/>
          </a:xfrm>
          <a:prstGeom prst="rect">
            <a:avLst/>
          </a:prstGeom>
          <a:noFill/>
          <a:ln/>
        </p:spPr>
        <p:txBody>
          <a:bodyPr wrap="square" lIns="0" tIns="0" rIns="0" bIns="0" rtlCol="0" anchor="b"/>
          <a:lstStyle/>
          <a:p>
            <a:pPr algn="ctr" indent="0" marL="0">
              <a:buNone/>
            </a:pPr>
            <a:r>
              <a:rPr lang="en-US" sz="2600" b="1" dirty="0">
                <a:solidFill>
                  <a:srgbClr val="FFFFFF"/>
                </a:solidFill>
              </a:rPr>
              <a:t>4</a:t>
            </a:r>
            <a:endParaRPr lang="en-US" sz="2600" dirty="0"/>
          </a:p>
        </p:txBody>
      </p:sp>
      <p:sp>
        <p:nvSpPr>
          <p:cNvPr id="20" name="Text 18"/>
          <p:cNvSpPr/>
          <p:nvPr/>
        </p:nvSpPr>
        <p:spPr>
          <a:xfrm>
            <a:off x="7360920" y="1875434"/>
            <a:ext cx="1143000" cy="330098"/>
          </a:xfrm>
          <a:prstGeom prst="rect">
            <a:avLst/>
          </a:prstGeom>
          <a:noFill/>
          <a:ln/>
        </p:spPr>
        <p:txBody>
          <a:bodyPr wrap="square" lIns="0" tIns="0" rIns="0" bIns="0" rtlCol="0" anchor="t"/>
          <a:lstStyle/>
          <a:p>
            <a:pPr algn="ctr" indent="0" marL="0">
              <a:buNone/>
            </a:pPr>
            <a:r>
              <a:rPr lang="en-US" sz="950" dirty="0">
                <a:solidFill>
                  <a:srgbClr val="CADCF5"/>
                </a:solidFill>
              </a:rPr>
              <a:t>Options/Q</a:t>
            </a:r>
            <a:endParaRPr lang="en-US" sz="950" dirty="0"/>
          </a:p>
        </p:txBody>
      </p:sp>
      <p:sp>
        <p:nvSpPr>
          <p:cNvPr id="21" name="Text 19"/>
          <p:cNvSpPr/>
          <p:nvPr/>
        </p:nvSpPr>
        <p:spPr>
          <a:xfrm>
            <a:off x="4800600" y="2350008"/>
            <a:ext cx="3931920" cy="1920240"/>
          </a:xfrm>
          <a:prstGeom prst="rect">
            <a:avLst/>
          </a:prstGeom>
          <a:noFill/>
          <a:ln/>
        </p:spPr>
        <p:txBody>
          <a:bodyPr wrap="square" rtlCol="0" anchor="ctr"/>
          <a:lstStyle/>
          <a:p>
            <a:pPr marL="342900" indent="-342900">
              <a:buSzPct val="100000"/>
              <a:buChar char="•"/>
            </a:pPr>
            <a:r>
              <a:rPr lang="en-US" sz="1350" dirty="0">
                <a:solidFill>
                  <a:srgbClr val="1E293B"/>
                </a:solidFill>
              </a:rPr>
              <a:t>Source: Chinese middle &amp; high school English exams</a:t>
            </a:r>
            <a:endParaRPr lang="en-US" sz="1350" dirty="0"/>
          </a:p>
          <a:p>
            <a:pPr marL="342900" indent="-342900">
              <a:buSzPct val="100000"/>
              <a:buChar char="•"/>
            </a:pPr>
            <a:r>
              <a:rPr lang="en-US" sz="1350" dirty="0">
                <a:solidFill>
                  <a:srgbClr val="1E293B"/>
                </a:solidFill>
              </a:rPr>
              <a:t>All questions multiple-choice (A / B / C / D)</a:t>
            </a:r>
            <a:endParaRPr lang="en-US" sz="1350" dirty="0"/>
          </a:p>
          <a:p>
            <a:pPr marL="342900" indent="-342900">
              <a:buSzPct val="100000"/>
              <a:buChar char="•"/>
            </a:pPr>
            <a:r>
              <a:rPr lang="en-US" sz="1350" dirty="0">
                <a:solidFill>
                  <a:srgbClr val="1E293B"/>
                </a:solidFill>
              </a:rPr>
              <a:t>Splits: Train 87,866 rows · Val 15,080 · Test 15,084</a:t>
            </a:r>
            <a:endParaRPr lang="en-US" sz="1350" dirty="0"/>
          </a:p>
          <a:p>
            <a:pPr marL="342900" indent="-342900">
              <a:buSzPct val="100000"/>
              <a:buChar char="•"/>
            </a:pPr>
            <a:r>
              <a:rPr lang="en-US" sz="1350" dirty="0">
                <a:solidFill>
                  <a:srgbClr val="1E293B"/>
                </a:solidFill>
              </a:rPr>
              <a:t>Challenge: 3:1 class imbalance (3 wrong options per correct)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Exploratory Data Analysis — Key Findings</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4 / 15</a:t>
            </a:r>
            <a:endParaRPr lang="en-US" sz="800" dirty="0"/>
          </a:p>
        </p:txBody>
      </p:sp>
      <p:graphicFrame>
        <p:nvGraphicFramePr>
          <p:cNvPr id="7" name="Chart 0" descr=""/>
          <p:cNvGraphicFramePr/>
          <p:nvPr/>
        </p:nvGraphicFramePr>
        <p:xfrm>
          <a:off x="320040" y="868680"/>
          <a:ext cx="4023360" cy="214884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4617720" y="868680"/>
          <a:ext cx="4023360" cy="2148840"/>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320040" y="3154680"/>
            <a:ext cx="4023360" cy="658368"/>
          </a:xfrm>
          <a:prstGeom prst="rect">
            <a:avLst/>
          </a:prstGeom>
          <a:solidFill>
            <a:srgbClr val="F4F7FB"/>
          </a:solidFill>
          <a:ln w="9525">
            <a:solidFill>
              <a:srgbClr val="E8EDF5"/>
            </a:solidFill>
            <a:prstDash val="solid"/>
          </a:ln>
        </p:spPr>
      </p:sp>
      <p:sp>
        <p:nvSpPr>
          <p:cNvPr id="10" name="Text 6"/>
          <p:cNvSpPr/>
          <p:nvPr/>
        </p:nvSpPr>
        <p:spPr>
          <a:xfrm>
            <a:off x="429768" y="3200400"/>
            <a:ext cx="3840480" cy="256032"/>
          </a:xfrm>
          <a:prstGeom prst="rect">
            <a:avLst/>
          </a:prstGeom>
          <a:noFill/>
          <a:ln/>
        </p:spPr>
        <p:txBody>
          <a:bodyPr wrap="square" rtlCol="0" anchor="ctr"/>
          <a:lstStyle/>
          <a:p>
            <a:pPr indent="0" marL="0">
              <a:buNone/>
            </a:pPr>
            <a:r>
              <a:rPr lang="en-US" sz="1100" b="1" dirty="0">
                <a:solidFill>
                  <a:srgbClr val="2563A8"/>
                </a:solidFill>
              </a:rPr>
              <a:t>📚  No Missing Values</a:t>
            </a:r>
            <a:endParaRPr lang="en-US" sz="1100" dirty="0"/>
          </a:p>
        </p:txBody>
      </p:sp>
      <p:sp>
        <p:nvSpPr>
          <p:cNvPr id="11" name="Text 7"/>
          <p:cNvSpPr/>
          <p:nvPr/>
        </p:nvSpPr>
        <p:spPr>
          <a:xfrm>
            <a:off x="429768" y="3456432"/>
            <a:ext cx="3840480" cy="274320"/>
          </a:xfrm>
          <a:prstGeom prst="rect">
            <a:avLst/>
          </a:prstGeom>
          <a:noFill/>
          <a:ln/>
        </p:spPr>
        <p:txBody>
          <a:bodyPr wrap="square" rtlCol="0" anchor="ctr"/>
          <a:lstStyle/>
          <a:p>
            <a:pPr indent="0" marL="0">
              <a:buNone/>
            </a:pPr>
            <a:r>
              <a:rPr lang="en-US" sz="1050" dirty="0">
                <a:solidFill>
                  <a:srgbClr val="1E293B"/>
                </a:solidFill>
              </a:rPr>
              <a:t>All columns populated across train / val / test</a:t>
            </a:r>
            <a:endParaRPr lang="en-US" sz="1050" dirty="0"/>
          </a:p>
        </p:txBody>
      </p:sp>
      <p:sp>
        <p:nvSpPr>
          <p:cNvPr id="12" name="Shape 8"/>
          <p:cNvSpPr/>
          <p:nvPr/>
        </p:nvSpPr>
        <p:spPr>
          <a:xfrm>
            <a:off x="4617720" y="3154680"/>
            <a:ext cx="4023360" cy="658368"/>
          </a:xfrm>
          <a:prstGeom prst="rect">
            <a:avLst/>
          </a:prstGeom>
          <a:solidFill>
            <a:srgbClr val="F4F7FB"/>
          </a:solidFill>
          <a:ln w="9525">
            <a:solidFill>
              <a:srgbClr val="E8EDF5"/>
            </a:solidFill>
            <a:prstDash val="solid"/>
          </a:ln>
        </p:spPr>
      </p:sp>
      <p:sp>
        <p:nvSpPr>
          <p:cNvPr id="13" name="Text 9"/>
          <p:cNvSpPr/>
          <p:nvPr/>
        </p:nvSpPr>
        <p:spPr>
          <a:xfrm>
            <a:off x="4727448" y="3200400"/>
            <a:ext cx="3840480" cy="256032"/>
          </a:xfrm>
          <a:prstGeom prst="rect">
            <a:avLst/>
          </a:prstGeom>
          <a:noFill/>
          <a:ln/>
        </p:spPr>
        <p:txBody>
          <a:bodyPr wrap="square" rtlCol="0" anchor="ctr"/>
          <a:lstStyle/>
          <a:p>
            <a:pPr indent="0" marL="0">
              <a:buNone/>
            </a:pPr>
            <a:r>
              <a:rPr lang="en-US" sz="1100" b="1" dirty="0">
                <a:solidFill>
                  <a:srgbClr val="2563A8"/>
                </a:solidFill>
              </a:rPr>
              <a:t>📊  Answer Balance</a:t>
            </a:r>
            <a:endParaRPr lang="en-US" sz="1100" dirty="0"/>
          </a:p>
        </p:txBody>
      </p:sp>
      <p:sp>
        <p:nvSpPr>
          <p:cNvPr id="14" name="Text 10"/>
          <p:cNvSpPr/>
          <p:nvPr/>
        </p:nvSpPr>
        <p:spPr>
          <a:xfrm>
            <a:off x="4727448" y="3456432"/>
            <a:ext cx="3840480" cy="274320"/>
          </a:xfrm>
          <a:prstGeom prst="rect">
            <a:avLst/>
          </a:prstGeom>
          <a:noFill/>
          <a:ln/>
        </p:spPr>
        <p:txBody>
          <a:bodyPr wrap="square" rtlCol="0" anchor="ctr"/>
          <a:lstStyle/>
          <a:p>
            <a:pPr indent="0" marL="0">
              <a:buNone/>
            </a:pPr>
            <a:r>
              <a:rPr lang="en-US" sz="1050" dirty="0">
                <a:solidFill>
                  <a:srgbClr val="1E293B"/>
                </a:solidFill>
              </a:rPr>
              <a:t>Labels A–D roughly balanced — no systematic bias toward one letter</a:t>
            </a:r>
            <a:endParaRPr lang="en-US" sz="1050" dirty="0"/>
          </a:p>
        </p:txBody>
      </p:sp>
      <p:sp>
        <p:nvSpPr>
          <p:cNvPr id="15" name="Shape 11"/>
          <p:cNvSpPr/>
          <p:nvPr/>
        </p:nvSpPr>
        <p:spPr>
          <a:xfrm>
            <a:off x="320040" y="3904488"/>
            <a:ext cx="4023360" cy="658368"/>
          </a:xfrm>
          <a:prstGeom prst="rect">
            <a:avLst/>
          </a:prstGeom>
          <a:solidFill>
            <a:srgbClr val="F4F7FB"/>
          </a:solidFill>
          <a:ln w="9525">
            <a:solidFill>
              <a:srgbClr val="E8EDF5"/>
            </a:solidFill>
            <a:prstDash val="solid"/>
          </a:ln>
        </p:spPr>
      </p:sp>
      <p:sp>
        <p:nvSpPr>
          <p:cNvPr id="16" name="Text 12"/>
          <p:cNvSpPr/>
          <p:nvPr/>
        </p:nvSpPr>
        <p:spPr>
          <a:xfrm>
            <a:off x="429768" y="3950208"/>
            <a:ext cx="3840480" cy="256032"/>
          </a:xfrm>
          <a:prstGeom prst="rect">
            <a:avLst/>
          </a:prstGeom>
          <a:noFill/>
          <a:ln/>
        </p:spPr>
        <p:txBody>
          <a:bodyPr wrap="square" rtlCol="0" anchor="ctr"/>
          <a:lstStyle/>
          <a:p>
            <a:pPr indent="0" marL="0">
              <a:buNone/>
            </a:pPr>
            <a:r>
              <a:rPr lang="en-US" sz="1100" b="1" dirty="0">
                <a:solidFill>
                  <a:srgbClr val="2563A8"/>
                </a:solidFill>
              </a:rPr>
              <a:t>📐  Option Length</a:t>
            </a:r>
            <a:endParaRPr lang="en-US" sz="1100" dirty="0"/>
          </a:p>
        </p:txBody>
      </p:sp>
      <p:sp>
        <p:nvSpPr>
          <p:cNvPr id="17" name="Text 13"/>
          <p:cNvSpPr/>
          <p:nvPr/>
        </p:nvSpPr>
        <p:spPr>
          <a:xfrm>
            <a:off x="429768" y="4206240"/>
            <a:ext cx="3840480" cy="274320"/>
          </a:xfrm>
          <a:prstGeom prst="rect">
            <a:avLst/>
          </a:prstGeom>
          <a:noFill/>
          <a:ln/>
        </p:spPr>
        <p:txBody>
          <a:bodyPr wrap="square" rtlCol="0" anchor="ctr"/>
          <a:lstStyle/>
          <a:p>
            <a:pPr indent="0" marL="0">
              <a:buNone/>
            </a:pPr>
            <a:r>
              <a:rPr lang="en-US" sz="1050" dirty="0">
                <a:solidFill>
                  <a:srgbClr val="1E293B"/>
                </a:solidFill>
              </a:rPr>
              <a:t>Correct &amp; distractor options have similar average lengths — length alone is unreliable</a:t>
            </a:r>
            <a:endParaRPr lang="en-US" sz="1050" dirty="0"/>
          </a:p>
        </p:txBody>
      </p:sp>
      <p:sp>
        <p:nvSpPr>
          <p:cNvPr id="18" name="Shape 14"/>
          <p:cNvSpPr/>
          <p:nvPr/>
        </p:nvSpPr>
        <p:spPr>
          <a:xfrm>
            <a:off x="4617720" y="3904488"/>
            <a:ext cx="4023360" cy="658368"/>
          </a:xfrm>
          <a:prstGeom prst="rect">
            <a:avLst/>
          </a:prstGeom>
          <a:solidFill>
            <a:srgbClr val="F4F7FB"/>
          </a:solidFill>
          <a:ln w="9525">
            <a:solidFill>
              <a:srgbClr val="E8EDF5"/>
            </a:solidFill>
            <a:prstDash val="solid"/>
          </a:ln>
        </p:spPr>
      </p:sp>
      <p:sp>
        <p:nvSpPr>
          <p:cNvPr id="19" name="Text 15"/>
          <p:cNvSpPr/>
          <p:nvPr/>
        </p:nvSpPr>
        <p:spPr>
          <a:xfrm>
            <a:off x="4727448" y="3950208"/>
            <a:ext cx="3840480" cy="256032"/>
          </a:xfrm>
          <a:prstGeom prst="rect">
            <a:avLst/>
          </a:prstGeom>
          <a:noFill/>
          <a:ln/>
        </p:spPr>
        <p:txBody>
          <a:bodyPr wrap="square" rtlCol="0" anchor="ctr"/>
          <a:lstStyle/>
          <a:p>
            <a:pPr indent="0" marL="0">
              <a:buNone/>
            </a:pPr>
            <a:r>
              <a:rPr lang="en-US" sz="1100" b="1" dirty="0">
                <a:solidFill>
                  <a:srgbClr val="2563A8"/>
                </a:solidFill>
              </a:rPr>
              <a:t>🔍  Question Types</a:t>
            </a:r>
            <a:endParaRPr lang="en-US" sz="1100" dirty="0"/>
          </a:p>
        </p:txBody>
      </p:sp>
      <p:sp>
        <p:nvSpPr>
          <p:cNvPr id="20" name="Text 16"/>
          <p:cNvSpPr/>
          <p:nvPr/>
        </p:nvSpPr>
        <p:spPr>
          <a:xfrm>
            <a:off x="4727448" y="4206240"/>
            <a:ext cx="3840480" cy="274320"/>
          </a:xfrm>
          <a:prstGeom prst="rect">
            <a:avLst/>
          </a:prstGeom>
          <a:noFill/>
          <a:ln/>
        </p:spPr>
        <p:txBody>
          <a:bodyPr wrap="square" rtlCol="0" anchor="ctr"/>
          <a:lstStyle/>
          <a:p>
            <a:pPr indent="0" marL="0">
              <a:buNone/>
            </a:pPr>
            <a:r>
              <a:rPr lang="en-US" sz="1050" dirty="0">
                <a:solidFill>
                  <a:srgbClr val="1E293B"/>
                </a:solidFill>
              </a:rPr>
              <a:t>Detail retrieval · Inference · Vocabulary-in-context · Main idea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Preprocessing Pipeline</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5 / 15</a:t>
            </a:r>
            <a:endParaRPr lang="en-US" sz="800" dirty="0"/>
          </a:p>
        </p:txBody>
      </p:sp>
      <p:sp>
        <p:nvSpPr>
          <p:cNvPr id="7" name="Shape 5"/>
          <p:cNvSpPr/>
          <p:nvPr/>
        </p:nvSpPr>
        <p:spPr>
          <a:xfrm>
            <a:off x="320040" y="896112"/>
            <a:ext cx="384048" cy="502920"/>
          </a:xfrm>
          <a:prstGeom prst="rect">
            <a:avLst/>
          </a:prstGeom>
          <a:solidFill>
            <a:srgbClr val="1A2B4A"/>
          </a:solidFill>
          <a:ln w="12700">
            <a:solidFill>
              <a:srgbClr val="1A2B4A"/>
            </a:solidFill>
            <a:prstDash val="solid"/>
          </a:ln>
        </p:spPr>
      </p:sp>
      <p:sp>
        <p:nvSpPr>
          <p:cNvPr id="8" name="Text 6"/>
          <p:cNvSpPr/>
          <p:nvPr/>
        </p:nvSpPr>
        <p:spPr>
          <a:xfrm>
            <a:off x="320040" y="896112"/>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777240" y="914400"/>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Lowercase</a:t>
            </a:r>
            <a:endParaRPr lang="en-US" sz="1200" dirty="0"/>
          </a:p>
        </p:txBody>
      </p:sp>
      <p:sp>
        <p:nvSpPr>
          <p:cNvPr id="10" name="Text 8"/>
          <p:cNvSpPr/>
          <p:nvPr/>
        </p:nvSpPr>
        <p:spPr>
          <a:xfrm>
            <a:off x="777240" y="1143000"/>
            <a:ext cx="3657600" cy="219456"/>
          </a:xfrm>
          <a:prstGeom prst="rect">
            <a:avLst/>
          </a:prstGeom>
          <a:noFill/>
          <a:ln/>
        </p:spPr>
        <p:txBody>
          <a:bodyPr wrap="square" lIns="0" tIns="0" rIns="0" bIns="0" rtlCol="0" anchor="ctr"/>
          <a:lstStyle/>
          <a:p>
            <a:pPr indent="0" marL="0">
              <a:buNone/>
            </a:pPr>
            <a:r>
              <a:rPr lang="en-US" sz="1050" dirty="0">
                <a:solidFill>
                  <a:srgbClr val="64748B"/>
                </a:solidFill>
              </a:rPr>
              <a:t>All text converted to lowercase</a:t>
            </a:r>
            <a:endParaRPr lang="en-US" sz="1050" dirty="0"/>
          </a:p>
        </p:txBody>
      </p:sp>
      <p:sp>
        <p:nvSpPr>
          <p:cNvPr id="11" name="Shape 9"/>
          <p:cNvSpPr/>
          <p:nvPr/>
        </p:nvSpPr>
        <p:spPr>
          <a:xfrm>
            <a:off x="320040" y="1664208"/>
            <a:ext cx="384048" cy="502920"/>
          </a:xfrm>
          <a:prstGeom prst="rect">
            <a:avLst/>
          </a:prstGeom>
          <a:solidFill>
            <a:srgbClr val="2563A8"/>
          </a:solidFill>
          <a:ln w="12700">
            <a:solidFill>
              <a:srgbClr val="2563A8"/>
            </a:solidFill>
            <a:prstDash val="solid"/>
          </a:ln>
        </p:spPr>
      </p:sp>
      <p:sp>
        <p:nvSpPr>
          <p:cNvPr id="12" name="Text 10"/>
          <p:cNvSpPr/>
          <p:nvPr/>
        </p:nvSpPr>
        <p:spPr>
          <a:xfrm>
            <a:off x="320040" y="1664208"/>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p:nvPr/>
        </p:nvSpPr>
        <p:spPr>
          <a:xfrm>
            <a:off x="777240" y="1682496"/>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Punctuation Strip</a:t>
            </a:r>
            <a:endParaRPr lang="en-US" sz="1200" dirty="0"/>
          </a:p>
        </p:txBody>
      </p:sp>
      <p:sp>
        <p:nvSpPr>
          <p:cNvPr id="14" name="Text 12"/>
          <p:cNvSpPr/>
          <p:nvPr/>
        </p:nvSpPr>
        <p:spPr>
          <a:xfrm>
            <a:off x="777240" y="1911096"/>
            <a:ext cx="3657600" cy="219456"/>
          </a:xfrm>
          <a:prstGeom prst="rect">
            <a:avLst/>
          </a:prstGeom>
          <a:noFill/>
          <a:ln/>
        </p:spPr>
        <p:txBody>
          <a:bodyPr wrap="square" lIns="0" tIns="0" rIns="0" bIns="0" rtlCol="0" anchor="ctr"/>
          <a:lstStyle/>
          <a:p>
            <a:pPr indent="0" marL="0">
              <a:buNone/>
            </a:pPr>
            <a:r>
              <a:rPr lang="en-US" sz="1050" dirty="0">
                <a:solidFill>
                  <a:srgbClr val="64748B"/>
                </a:solidFill>
              </a:rPr>
              <a:t>Non-alphanumeric chars removed</a:t>
            </a:r>
            <a:endParaRPr lang="en-US" sz="1050" dirty="0"/>
          </a:p>
        </p:txBody>
      </p:sp>
      <p:sp>
        <p:nvSpPr>
          <p:cNvPr id="15" name="Shape 13"/>
          <p:cNvSpPr/>
          <p:nvPr/>
        </p:nvSpPr>
        <p:spPr>
          <a:xfrm>
            <a:off x="320040" y="2432304"/>
            <a:ext cx="384048" cy="502920"/>
          </a:xfrm>
          <a:prstGeom prst="rect">
            <a:avLst/>
          </a:prstGeom>
          <a:solidFill>
            <a:srgbClr val="3B82C4"/>
          </a:solidFill>
          <a:ln w="12700">
            <a:solidFill>
              <a:srgbClr val="3B82C4"/>
            </a:solidFill>
            <a:prstDash val="solid"/>
          </a:ln>
        </p:spPr>
      </p:sp>
      <p:sp>
        <p:nvSpPr>
          <p:cNvPr id="16" name="Text 14"/>
          <p:cNvSpPr/>
          <p:nvPr/>
        </p:nvSpPr>
        <p:spPr>
          <a:xfrm>
            <a:off x="320040" y="2432304"/>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5"/>
          <p:cNvSpPr/>
          <p:nvPr/>
        </p:nvSpPr>
        <p:spPr>
          <a:xfrm>
            <a:off x="777240" y="2450592"/>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Whitespace Collapse</a:t>
            </a:r>
            <a:endParaRPr lang="en-US" sz="1200" dirty="0"/>
          </a:p>
        </p:txBody>
      </p:sp>
      <p:sp>
        <p:nvSpPr>
          <p:cNvPr id="18" name="Text 16"/>
          <p:cNvSpPr/>
          <p:nvPr/>
        </p:nvSpPr>
        <p:spPr>
          <a:xfrm>
            <a:off x="777240" y="2679192"/>
            <a:ext cx="3657600" cy="219456"/>
          </a:xfrm>
          <a:prstGeom prst="rect">
            <a:avLst/>
          </a:prstGeom>
          <a:noFill/>
          <a:ln/>
        </p:spPr>
        <p:txBody>
          <a:bodyPr wrap="square" lIns="0" tIns="0" rIns="0" bIns="0" rtlCol="0" anchor="ctr"/>
          <a:lstStyle/>
          <a:p>
            <a:pPr indent="0" marL="0">
              <a:buNone/>
            </a:pPr>
            <a:r>
              <a:rPr lang="en-US" sz="1050" dirty="0">
                <a:solidFill>
                  <a:srgbClr val="64748B"/>
                </a:solidFill>
              </a:rPr>
              <a:t>Multiple spaces → single space</a:t>
            </a:r>
            <a:endParaRPr lang="en-US" sz="1050" dirty="0"/>
          </a:p>
        </p:txBody>
      </p:sp>
      <p:sp>
        <p:nvSpPr>
          <p:cNvPr id="19" name="Shape 17"/>
          <p:cNvSpPr/>
          <p:nvPr/>
        </p:nvSpPr>
        <p:spPr>
          <a:xfrm>
            <a:off x="320040" y="3200400"/>
            <a:ext cx="384048" cy="502920"/>
          </a:xfrm>
          <a:prstGeom prst="rect">
            <a:avLst/>
          </a:prstGeom>
          <a:solidFill>
            <a:srgbClr val="0D8A8A"/>
          </a:solidFill>
          <a:ln w="12700">
            <a:solidFill>
              <a:srgbClr val="0D8A8A"/>
            </a:solidFill>
            <a:prstDash val="solid"/>
          </a:ln>
        </p:spPr>
      </p:sp>
      <p:sp>
        <p:nvSpPr>
          <p:cNvPr id="20" name="Text 18"/>
          <p:cNvSpPr/>
          <p:nvPr/>
        </p:nvSpPr>
        <p:spPr>
          <a:xfrm>
            <a:off x="320040" y="3200400"/>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p:nvPr/>
        </p:nvSpPr>
        <p:spPr>
          <a:xfrm>
            <a:off x="777240" y="3218688"/>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Stop Words Kept</a:t>
            </a:r>
            <a:endParaRPr lang="en-US" sz="1200" dirty="0"/>
          </a:p>
        </p:txBody>
      </p:sp>
      <p:sp>
        <p:nvSpPr>
          <p:cNvPr id="22" name="Text 20"/>
          <p:cNvSpPr/>
          <p:nvPr/>
        </p:nvSpPr>
        <p:spPr>
          <a:xfrm>
            <a:off x="777240" y="3447288"/>
            <a:ext cx="3657600" cy="219456"/>
          </a:xfrm>
          <a:prstGeom prst="rect">
            <a:avLst/>
          </a:prstGeom>
          <a:noFill/>
          <a:ln/>
        </p:spPr>
        <p:txBody>
          <a:bodyPr wrap="square" lIns="0" tIns="0" rIns="0" bIns="0" rtlCol="0" anchor="ctr"/>
          <a:lstStyle/>
          <a:p>
            <a:pPr indent="0" marL="0">
              <a:buNone/>
            </a:pPr>
            <a:r>
              <a:rPr lang="en-US" sz="1050" dirty="0">
                <a:solidFill>
                  <a:srgbClr val="64748B"/>
                </a:solidFill>
              </a:rPr>
              <a:t>"not", "except" carry critical logical cues</a:t>
            </a:r>
            <a:endParaRPr lang="en-US" sz="1050" dirty="0"/>
          </a:p>
        </p:txBody>
      </p:sp>
      <p:sp>
        <p:nvSpPr>
          <p:cNvPr id="23" name="Shape 21"/>
          <p:cNvSpPr/>
          <p:nvPr/>
        </p:nvSpPr>
        <p:spPr>
          <a:xfrm>
            <a:off x="320040" y="3968496"/>
            <a:ext cx="384048" cy="502920"/>
          </a:xfrm>
          <a:prstGeom prst="rect">
            <a:avLst/>
          </a:prstGeom>
          <a:solidFill>
            <a:srgbClr val="1E5B8A"/>
          </a:solidFill>
          <a:ln w="12700">
            <a:solidFill>
              <a:srgbClr val="1E5B8A"/>
            </a:solidFill>
            <a:prstDash val="solid"/>
          </a:ln>
        </p:spPr>
      </p:sp>
      <p:sp>
        <p:nvSpPr>
          <p:cNvPr id="24" name="Text 22"/>
          <p:cNvSpPr/>
          <p:nvPr/>
        </p:nvSpPr>
        <p:spPr>
          <a:xfrm>
            <a:off x="320040" y="3968496"/>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5" name="Text 23"/>
          <p:cNvSpPr/>
          <p:nvPr/>
        </p:nvSpPr>
        <p:spPr>
          <a:xfrm>
            <a:off x="777240" y="3986784"/>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Concatenation</a:t>
            </a:r>
            <a:endParaRPr lang="en-US" sz="1200" dirty="0"/>
          </a:p>
        </p:txBody>
      </p:sp>
      <p:sp>
        <p:nvSpPr>
          <p:cNvPr id="26" name="Text 24"/>
          <p:cNvSpPr/>
          <p:nvPr/>
        </p:nvSpPr>
        <p:spPr>
          <a:xfrm>
            <a:off x="777240" y="4215384"/>
            <a:ext cx="3657600" cy="219456"/>
          </a:xfrm>
          <a:prstGeom prst="rect">
            <a:avLst/>
          </a:prstGeom>
          <a:noFill/>
          <a:ln/>
        </p:spPr>
        <p:txBody>
          <a:bodyPr wrap="square" lIns="0" tIns="0" rIns="0" bIns="0" rtlCol="0" anchor="ctr"/>
          <a:lstStyle/>
          <a:p>
            <a:pPr indent="0" marL="0">
              <a:buNone/>
            </a:pPr>
            <a:r>
              <a:rPr lang="en-US" sz="1050" dirty="0">
                <a:solidFill>
                  <a:srgbClr val="64748B"/>
                </a:solidFill>
              </a:rPr>
              <a:t>article + question + option → single input string</a:t>
            </a:r>
            <a:endParaRPr lang="en-US" sz="1050" dirty="0"/>
          </a:p>
        </p:txBody>
      </p:sp>
      <p:sp>
        <p:nvSpPr>
          <p:cNvPr id="27" name="Shape 25"/>
          <p:cNvSpPr/>
          <p:nvPr/>
        </p:nvSpPr>
        <p:spPr>
          <a:xfrm>
            <a:off x="4709160" y="896112"/>
            <a:ext cx="384048" cy="502920"/>
          </a:xfrm>
          <a:prstGeom prst="rect">
            <a:avLst/>
          </a:prstGeom>
          <a:solidFill>
            <a:srgbClr val="1A2B4A"/>
          </a:solidFill>
          <a:ln w="12700">
            <a:solidFill>
              <a:srgbClr val="1A2B4A"/>
            </a:solidFill>
            <a:prstDash val="solid"/>
          </a:ln>
        </p:spPr>
      </p:sp>
      <p:sp>
        <p:nvSpPr>
          <p:cNvPr id="28" name="Text 26"/>
          <p:cNvSpPr/>
          <p:nvPr/>
        </p:nvSpPr>
        <p:spPr>
          <a:xfrm>
            <a:off x="4709160" y="896112"/>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9" name="Text 27"/>
          <p:cNvSpPr/>
          <p:nvPr/>
        </p:nvSpPr>
        <p:spPr>
          <a:xfrm>
            <a:off x="5166360" y="914400"/>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TF-IDF (50K vocab)</a:t>
            </a:r>
            <a:endParaRPr lang="en-US" sz="1200" dirty="0"/>
          </a:p>
        </p:txBody>
      </p:sp>
      <p:sp>
        <p:nvSpPr>
          <p:cNvPr id="30" name="Text 28"/>
          <p:cNvSpPr/>
          <p:nvPr/>
        </p:nvSpPr>
        <p:spPr>
          <a:xfrm>
            <a:off x="5166360" y="1143000"/>
            <a:ext cx="3657600" cy="219456"/>
          </a:xfrm>
          <a:prstGeom prst="rect">
            <a:avLst/>
          </a:prstGeom>
          <a:noFill/>
          <a:ln/>
        </p:spPr>
        <p:txBody>
          <a:bodyPr wrap="square" lIns="0" tIns="0" rIns="0" bIns="0" rtlCol="0" anchor="ctr"/>
          <a:lstStyle/>
          <a:p>
            <a:pPr indent="0" marL="0">
              <a:buNone/>
            </a:pPr>
            <a:r>
              <a:rPr lang="en-US" sz="1050" dirty="0">
                <a:solidFill>
                  <a:srgbClr val="64748B"/>
                </a:solidFill>
              </a:rPr>
              <a:t>Sparse weighted matrix — primary features for Model A</a:t>
            </a:r>
            <a:endParaRPr lang="en-US" sz="1050" dirty="0"/>
          </a:p>
        </p:txBody>
      </p:sp>
      <p:sp>
        <p:nvSpPr>
          <p:cNvPr id="31" name="Shape 29"/>
          <p:cNvSpPr/>
          <p:nvPr/>
        </p:nvSpPr>
        <p:spPr>
          <a:xfrm>
            <a:off x="4709160" y="1664208"/>
            <a:ext cx="384048" cy="502920"/>
          </a:xfrm>
          <a:prstGeom prst="rect">
            <a:avLst/>
          </a:prstGeom>
          <a:solidFill>
            <a:srgbClr val="2563A8"/>
          </a:solidFill>
          <a:ln w="12700">
            <a:solidFill>
              <a:srgbClr val="2563A8"/>
            </a:solidFill>
            <a:prstDash val="solid"/>
          </a:ln>
        </p:spPr>
      </p:sp>
      <p:sp>
        <p:nvSpPr>
          <p:cNvPr id="32" name="Text 30"/>
          <p:cNvSpPr/>
          <p:nvPr/>
        </p:nvSpPr>
        <p:spPr>
          <a:xfrm>
            <a:off x="4709160" y="1664208"/>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33" name="Text 31"/>
          <p:cNvSpPr/>
          <p:nvPr/>
        </p:nvSpPr>
        <p:spPr>
          <a:xfrm>
            <a:off x="5166360" y="1682496"/>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One-Hot Encoding</a:t>
            </a:r>
            <a:endParaRPr lang="en-US" sz="1200" dirty="0"/>
          </a:p>
        </p:txBody>
      </p:sp>
      <p:sp>
        <p:nvSpPr>
          <p:cNvPr id="34" name="Text 32"/>
          <p:cNvSpPr/>
          <p:nvPr/>
        </p:nvSpPr>
        <p:spPr>
          <a:xfrm>
            <a:off x="5166360" y="1911096"/>
            <a:ext cx="3657600" cy="219456"/>
          </a:xfrm>
          <a:prstGeom prst="rect">
            <a:avLst/>
          </a:prstGeom>
          <a:noFill/>
          <a:ln/>
        </p:spPr>
        <p:txBody>
          <a:bodyPr wrap="square" lIns="0" tIns="0" rIns="0" bIns="0" rtlCol="0" anchor="ctr"/>
          <a:lstStyle/>
          <a:p>
            <a:pPr indent="0" marL="0">
              <a:buNone/>
            </a:pPr>
            <a:r>
              <a:rPr lang="en-US" sz="1050" dirty="0">
                <a:solidFill>
                  <a:srgbClr val="64748B"/>
                </a:solidFill>
              </a:rPr>
              <a:t>Binary vocab vectors for Model B candidate scoring</a:t>
            </a:r>
            <a:endParaRPr lang="en-US" sz="1050" dirty="0"/>
          </a:p>
        </p:txBody>
      </p:sp>
      <p:sp>
        <p:nvSpPr>
          <p:cNvPr id="35" name="Shape 33"/>
          <p:cNvSpPr/>
          <p:nvPr/>
        </p:nvSpPr>
        <p:spPr>
          <a:xfrm>
            <a:off x="4709160" y="2432304"/>
            <a:ext cx="384048" cy="502920"/>
          </a:xfrm>
          <a:prstGeom prst="rect">
            <a:avLst/>
          </a:prstGeom>
          <a:solidFill>
            <a:srgbClr val="3B82C4"/>
          </a:solidFill>
          <a:ln w="12700">
            <a:solidFill>
              <a:srgbClr val="3B82C4"/>
            </a:solidFill>
            <a:prstDash val="solid"/>
          </a:ln>
        </p:spPr>
      </p:sp>
      <p:sp>
        <p:nvSpPr>
          <p:cNvPr id="36" name="Text 34"/>
          <p:cNvSpPr/>
          <p:nvPr/>
        </p:nvSpPr>
        <p:spPr>
          <a:xfrm>
            <a:off x="4709160" y="2432304"/>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37" name="Text 35"/>
          <p:cNvSpPr/>
          <p:nvPr/>
        </p:nvSpPr>
        <p:spPr>
          <a:xfrm>
            <a:off x="5166360" y="2450592"/>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Class Weights</a:t>
            </a:r>
            <a:endParaRPr lang="en-US" sz="1200" dirty="0"/>
          </a:p>
        </p:txBody>
      </p:sp>
      <p:sp>
        <p:nvSpPr>
          <p:cNvPr id="38" name="Text 36"/>
          <p:cNvSpPr/>
          <p:nvPr/>
        </p:nvSpPr>
        <p:spPr>
          <a:xfrm>
            <a:off x="5166360" y="2679192"/>
            <a:ext cx="3657600" cy="219456"/>
          </a:xfrm>
          <a:prstGeom prst="rect">
            <a:avLst/>
          </a:prstGeom>
          <a:noFill/>
          <a:ln/>
        </p:spPr>
        <p:txBody>
          <a:bodyPr wrap="square" lIns="0" tIns="0" rIns="0" bIns="0" rtlCol="0" anchor="ctr"/>
          <a:lstStyle/>
          <a:p>
            <a:pPr indent="0" marL="0">
              <a:buNone/>
            </a:pPr>
            <a:r>
              <a:rPr lang="en-US" sz="1050" dirty="0">
                <a:solidFill>
                  <a:srgbClr val="64748B"/>
                </a:solidFill>
              </a:rPr>
              <a:t>compute_class_weight('balanced') before training</a:t>
            </a:r>
            <a:endParaRPr lang="en-US" sz="1050" dirty="0"/>
          </a:p>
        </p:txBody>
      </p:sp>
      <p:sp>
        <p:nvSpPr>
          <p:cNvPr id="39" name="Shape 37"/>
          <p:cNvSpPr/>
          <p:nvPr/>
        </p:nvSpPr>
        <p:spPr>
          <a:xfrm>
            <a:off x="4709160" y="3200400"/>
            <a:ext cx="384048" cy="502920"/>
          </a:xfrm>
          <a:prstGeom prst="rect">
            <a:avLst/>
          </a:prstGeom>
          <a:solidFill>
            <a:srgbClr val="0D8A8A"/>
          </a:solidFill>
          <a:ln w="12700">
            <a:solidFill>
              <a:srgbClr val="0D8A8A"/>
            </a:solidFill>
            <a:prstDash val="solid"/>
          </a:ln>
        </p:spPr>
      </p:sp>
      <p:sp>
        <p:nvSpPr>
          <p:cNvPr id="40" name="Text 38"/>
          <p:cNvSpPr/>
          <p:nvPr/>
        </p:nvSpPr>
        <p:spPr>
          <a:xfrm>
            <a:off x="4709160" y="3200400"/>
            <a:ext cx="384048" cy="502920"/>
          </a:xfrm>
          <a:prstGeom prst="rect">
            <a:avLst/>
          </a:prstGeom>
          <a:noFill/>
          <a:ln/>
        </p:spPr>
        <p:txBody>
          <a:bodyPr wrap="square" lIns="0" tIns="0" rIns="0" bIns="0" rtlCol="0" anchor="ctr"/>
          <a:lstStyle/>
          <a:p>
            <a:pPr algn="ctr" indent="0" marL="0">
              <a:buNone/>
            </a:pPr>
            <a:r>
              <a:rPr lang="en-US" sz="1400" b="1" dirty="0">
                <a:solidFill>
                  <a:srgbClr val="FFFFFF"/>
                </a:solidFill>
              </a:rPr>
              <a:t>9</a:t>
            </a:r>
            <a:endParaRPr lang="en-US" sz="1400" dirty="0"/>
          </a:p>
        </p:txBody>
      </p:sp>
      <p:sp>
        <p:nvSpPr>
          <p:cNvPr id="41" name="Text 39"/>
          <p:cNvSpPr/>
          <p:nvPr/>
        </p:nvSpPr>
        <p:spPr>
          <a:xfrm>
            <a:off x="5166360" y="3218688"/>
            <a:ext cx="3657600" cy="237744"/>
          </a:xfrm>
          <a:prstGeom prst="rect">
            <a:avLst/>
          </a:prstGeom>
          <a:noFill/>
          <a:ln/>
        </p:spPr>
        <p:txBody>
          <a:bodyPr wrap="square" lIns="0" tIns="0" rIns="0" bIns="0" rtlCol="0" anchor="ctr"/>
          <a:lstStyle/>
          <a:p>
            <a:pPr indent="0" marL="0">
              <a:buNone/>
            </a:pPr>
            <a:r>
              <a:rPr lang="en-US" sz="1200" b="1" dirty="0">
                <a:solidFill>
                  <a:srgbClr val="1E293B"/>
                </a:solidFill>
              </a:rPr>
              <a:t>Persist Matrices</a:t>
            </a:r>
            <a:endParaRPr lang="en-US" sz="1200" dirty="0"/>
          </a:p>
        </p:txBody>
      </p:sp>
      <p:sp>
        <p:nvSpPr>
          <p:cNvPr id="42" name="Text 40"/>
          <p:cNvSpPr/>
          <p:nvPr/>
        </p:nvSpPr>
        <p:spPr>
          <a:xfrm>
            <a:off x="5166360" y="3447288"/>
            <a:ext cx="3657600" cy="219456"/>
          </a:xfrm>
          <a:prstGeom prst="rect">
            <a:avLst/>
          </a:prstGeom>
          <a:noFill/>
          <a:ln/>
        </p:spPr>
        <p:txBody>
          <a:bodyPr wrap="square" lIns="0" tIns="0" rIns="0" bIns="0" rtlCol="0" anchor="ctr"/>
          <a:lstStyle/>
          <a:p>
            <a:pPr indent="0" marL="0">
              <a:buNone/>
            </a:pPr>
            <a:r>
              <a:rPr lang="en-US" sz="1050" dirty="0">
                <a:solidFill>
                  <a:srgbClr val="64748B"/>
                </a:solidFill>
              </a:rPr>
              <a:t>Saved to data/processed/ for reproducibility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System Architecture</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6 / 15</a:t>
            </a:r>
            <a:endParaRPr lang="en-US" sz="800" dirty="0"/>
          </a:p>
        </p:txBody>
      </p:sp>
      <p:sp>
        <p:nvSpPr>
          <p:cNvPr id="7" name="Shape 5"/>
          <p:cNvSpPr/>
          <p:nvPr/>
        </p:nvSpPr>
        <p:spPr>
          <a:xfrm>
            <a:off x="274320" y="841248"/>
            <a:ext cx="2834640" cy="3858768"/>
          </a:xfrm>
          <a:prstGeom prst="rect">
            <a:avLst/>
          </a:prstGeom>
          <a:solidFill>
            <a:srgbClr val="F8FAFD"/>
          </a:solidFill>
          <a:ln w="19050">
            <a:solidFill>
              <a:srgbClr val="0D8A8A"/>
            </a:solidFill>
            <a:prstDash val="solid"/>
          </a:ln>
        </p:spPr>
      </p:sp>
      <p:sp>
        <p:nvSpPr>
          <p:cNvPr id="8" name="Shape 6"/>
          <p:cNvSpPr/>
          <p:nvPr/>
        </p:nvSpPr>
        <p:spPr>
          <a:xfrm>
            <a:off x="274320" y="841248"/>
            <a:ext cx="2834640" cy="420624"/>
          </a:xfrm>
          <a:prstGeom prst="rect">
            <a:avLst/>
          </a:prstGeom>
          <a:solidFill>
            <a:srgbClr val="0D8A8A"/>
          </a:solidFill>
          <a:ln w="12700">
            <a:solidFill>
              <a:srgbClr val="0D8A8A"/>
            </a:solidFill>
            <a:prstDash val="solid"/>
          </a:ln>
        </p:spPr>
      </p:sp>
      <p:sp>
        <p:nvSpPr>
          <p:cNvPr id="9" name="Text 7"/>
          <p:cNvSpPr/>
          <p:nvPr/>
        </p:nvSpPr>
        <p:spPr>
          <a:xfrm>
            <a:off x="274320" y="841248"/>
            <a:ext cx="2834640" cy="420624"/>
          </a:xfrm>
          <a:prstGeom prst="rect">
            <a:avLst/>
          </a:prstGeom>
          <a:noFill/>
          <a:ln/>
        </p:spPr>
        <p:txBody>
          <a:bodyPr wrap="square" lIns="0" tIns="0" rIns="0" bIns="0" rtlCol="0" anchor="ctr"/>
          <a:lstStyle/>
          <a:p>
            <a:pPr algn="ctr" indent="0" marL="0">
              <a:buNone/>
            </a:pPr>
            <a:r>
              <a:rPr lang="en-US" sz="1150" b="1" dirty="0">
                <a:solidFill>
                  <a:srgbClr val="FFFFFF"/>
                </a:solidFill>
              </a:rPr>
              <a:t>DATA LAYER</a:t>
            </a:r>
            <a:endParaRPr lang="en-US" sz="1150" dirty="0"/>
          </a:p>
        </p:txBody>
      </p:sp>
      <p:sp>
        <p:nvSpPr>
          <p:cNvPr id="10" name="Text 8"/>
          <p:cNvSpPr/>
          <p:nvPr/>
        </p:nvSpPr>
        <p:spPr>
          <a:xfrm>
            <a:off x="411480" y="1371600"/>
            <a:ext cx="2560320" cy="502920"/>
          </a:xfrm>
          <a:prstGeom prst="rect">
            <a:avLst/>
          </a:prstGeom>
          <a:noFill/>
          <a:ln/>
        </p:spPr>
        <p:txBody>
          <a:bodyPr wrap="square" lIns="0" tIns="0" rIns="0" bIns="0" rtlCol="0" anchor="ctr"/>
          <a:lstStyle/>
          <a:p>
            <a:pPr indent="0" marL="0">
              <a:buNone/>
            </a:pPr>
            <a:r>
              <a:rPr lang="en-US" sz="1100" dirty="0">
                <a:solidFill>
                  <a:srgbClr val="1E293B"/>
                </a:solidFill>
              </a:rPr>
              <a:t>RACE CSV (train / val / test)</a:t>
            </a:r>
            <a:endParaRPr lang="en-US" sz="1100" dirty="0"/>
          </a:p>
        </p:txBody>
      </p:sp>
      <p:sp>
        <p:nvSpPr>
          <p:cNvPr id="11" name="Text 9"/>
          <p:cNvSpPr/>
          <p:nvPr/>
        </p:nvSpPr>
        <p:spPr>
          <a:xfrm>
            <a:off x="411480" y="1947672"/>
            <a:ext cx="2560320" cy="502920"/>
          </a:xfrm>
          <a:prstGeom prst="rect">
            <a:avLst/>
          </a:prstGeom>
          <a:noFill/>
          <a:ln/>
        </p:spPr>
        <p:txBody>
          <a:bodyPr wrap="square" lIns="0" tIns="0" rIns="0" bIns="0" rtlCol="0" anchor="ctr"/>
          <a:lstStyle/>
          <a:p>
            <a:pPr indent="0" marL="0">
              <a:buNone/>
            </a:pPr>
            <a:r>
              <a:rPr lang="en-US" sz="1100" dirty="0">
                <a:solidFill>
                  <a:srgbClr val="1E293B"/>
                </a:solidFill>
              </a:rPr>
              <a:t>Preprocessing Module</a:t>
            </a:r>
            <a:endParaRPr lang="en-US" sz="1100" dirty="0"/>
          </a:p>
        </p:txBody>
      </p:sp>
      <p:sp>
        <p:nvSpPr>
          <p:cNvPr id="12" name="Text 10"/>
          <p:cNvSpPr/>
          <p:nvPr/>
        </p:nvSpPr>
        <p:spPr>
          <a:xfrm>
            <a:off x="411480" y="2523744"/>
            <a:ext cx="2560320" cy="502920"/>
          </a:xfrm>
          <a:prstGeom prst="rect">
            <a:avLst/>
          </a:prstGeom>
          <a:noFill/>
          <a:ln/>
        </p:spPr>
        <p:txBody>
          <a:bodyPr wrap="square" lIns="0" tIns="0" rIns="0" bIns="0" rtlCol="0" anchor="ctr"/>
          <a:lstStyle/>
          <a:p>
            <a:pPr indent="0" marL="0">
              <a:buNone/>
            </a:pPr>
            <a:r>
              <a:rPr lang="en-US" sz="1100" dirty="0">
                <a:solidFill>
                  <a:srgbClr val="1E293B"/>
                </a:solidFill>
              </a:rPr>
              <a:t>TF-IDF + OHE Feature Matrices</a:t>
            </a:r>
            <a:endParaRPr lang="en-US" sz="1100" dirty="0"/>
          </a:p>
        </p:txBody>
      </p:sp>
      <p:sp>
        <p:nvSpPr>
          <p:cNvPr id="13" name="Text 11"/>
          <p:cNvSpPr/>
          <p:nvPr/>
        </p:nvSpPr>
        <p:spPr>
          <a:xfrm>
            <a:off x="411480" y="3099816"/>
            <a:ext cx="2560320" cy="502920"/>
          </a:xfrm>
          <a:prstGeom prst="rect">
            <a:avLst/>
          </a:prstGeom>
          <a:noFill/>
          <a:ln/>
        </p:spPr>
        <p:txBody>
          <a:bodyPr wrap="square" lIns="0" tIns="0" rIns="0" bIns="0" rtlCol="0" anchor="ctr"/>
          <a:lstStyle/>
          <a:p>
            <a:pPr indent="0" marL="0">
              <a:buNone/>
            </a:pPr>
            <a:r>
              <a:rPr lang="en-US" sz="1100" dirty="0">
                <a:solidFill>
                  <a:srgbClr val="1E293B"/>
                </a:solidFill>
              </a:rPr>
              <a:t>Class weight computation</a:t>
            </a:r>
            <a:endParaRPr lang="en-US" sz="1100" dirty="0"/>
          </a:p>
        </p:txBody>
      </p:sp>
      <p:sp>
        <p:nvSpPr>
          <p:cNvPr id="14" name="Shape 12"/>
          <p:cNvSpPr/>
          <p:nvPr/>
        </p:nvSpPr>
        <p:spPr>
          <a:xfrm>
            <a:off x="3246120" y="841248"/>
            <a:ext cx="2834640" cy="3858768"/>
          </a:xfrm>
          <a:prstGeom prst="rect">
            <a:avLst/>
          </a:prstGeom>
          <a:solidFill>
            <a:srgbClr val="F8FAFD"/>
          </a:solidFill>
          <a:ln w="19050">
            <a:solidFill>
              <a:srgbClr val="1A2B4A"/>
            </a:solidFill>
            <a:prstDash val="solid"/>
          </a:ln>
        </p:spPr>
      </p:sp>
      <p:sp>
        <p:nvSpPr>
          <p:cNvPr id="15" name="Shape 13"/>
          <p:cNvSpPr/>
          <p:nvPr/>
        </p:nvSpPr>
        <p:spPr>
          <a:xfrm>
            <a:off x="3246120" y="841248"/>
            <a:ext cx="2834640" cy="420624"/>
          </a:xfrm>
          <a:prstGeom prst="rect">
            <a:avLst/>
          </a:prstGeom>
          <a:solidFill>
            <a:srgbClr val="1A2B4A"/>
          </a:solidFill>
          <a:ln w="12700">
            <a:solidFill>
              <a:srgbClr val="1A2B4A"/>
            </a:solidFill>
            <a:prstDash val="solid"/>
          </a:ln>
        </p:spPr>
      </p:sp>
      <p:sp>
        <p:nvSpPr>
          <p:cNvPr id="16" name="Text 14"/>
          <p:cNvSpPr/>
          <p:nvPr/>
        </p:nvSpPr>
        <p:spPr>
          <a:xfrm>
            <a:off x="3246120" y="841248"/>
            <a:ext cx="2834640" cy="420624"/>
          </a:xfrm>
          <a:prstGeom prst="rect">
            <a:avLst/>
          </a:prstGeom>
          <a:noFill/>
          <a:ln/>
        </p:spPr>
        <p:txBody>
          <a:bodyPr wrap="square" lIns="0" tIns="0" rIns="0" bIns="0" rtlCol="0" anchor="ctr"/>
          <a:lstStyle/>
          <a:p>
            <a:pPr algn="ctr" indent="0" marL="0">
              <a:buNone/>
            </a:pPr>
            <a:r>
              <a:rPr lang="en-US" sz="1150" b="1" dirty="0">
                <a:solidFill>
                  <a:srgbClr val="FFFFFF"/>
                </a:solidFill>
              </a:rPr>
              <a:t>MODEL LAYER</a:t>
            </a:r>
            <a:endParaRPr lang="en-US" sz="1150" dirty="0"/>
          </a:p>
        </p:txBody>
      </p:sp>
      <p:sp>
        <p:nvSpPr>
          <p:cNvPr id="17" name="Text 15"/>
          <p:cNvSpPr/>
          <p:nvPr/>
        </p:nvSpPr>
        <p:spPr>
          <a:xfrm>
            <a:off x="3383280" y="1371600"/>
            <a:ext cx="2560320" cy="502920"/>
          </a:xfrm>
          <a:prstGeom prst="rect">
            <a:avLst/>
          </a:prstGeom>
          <a:noFill/>
          <a:ln/>
        </p:spPr>
        <p:txBody>
          <a:bodyPr wrap="square" lIns="0" tIns="0" rIns="0" bIns="0" rtlCol="0" anchor="ctr"/>
          <a:lstStyle/>
          <a:p>
            <a:pPr indent="0" marL="0">
              <a:buNone/>
            </a:pPr>
            <a:r>
              <a:rPr lang="en-US" sz="1100" b="1" dirty="0">
                <a:solidFill>
                  <a:srgbClr val="1E293B"/>
                </a:solidFill>
              </a:rPr>
              <a:t>Model A — Answer Verifier</a:t>
            </a:r>
            <a:endParaRPr lang="en-US" sz="1100" dirty="0"/>
          </a:p>
        </p:txBody>
      </p:sp>
      <p:sp>
        <p:nvSpPr>
          <p:cNvPr id="18" name="Text 16"/>
          <p:cNvSpPr/>
          <p:nvPr/>
        </p:nvSpPr>
        <p:spPr>
          <a:xfrm>
            <a:off x="3383280" y="1947672"/>
            <a:ext cx="2560320" cy="502920"/>
          </a:xfrm>
          <a:prstGeom prst="rect">
            <a:avLst/>
          </a:prstGeom>
          <a:noFill/>
          <a:ln/>
        </p:spPr>
        <p:txBody>
          <a:bodyPr wrap="square" lIns="0" tIns="0" rIns="0" bIns="0" rtlCol="0" anchor="ctr"/>
          <a:lstStyle/>
          <a:p>
            <a:pPr indent="0" marL="0">
              <a:buNone/>
            </a:pPr>
            <a:r>
              <a:rPr lang="en-US" sz="1100" dirty="0">
                <a:solidFill>
                  <a:srgbClr val="1E293B"/>
                </a:solidFill>
              </a:rPr>
              <a:t>  LR · SVC · RF · Soft-Vote Ensemble</a:t>
            </a:r>
            <a:endParaRPr lang="en-US" sz="1100" dirty="0"/>
          </a:p>
        </p:txBody>
      </p:sp>
      <p:sp>
        <p:nvSpPr>
          <p:cNvPr id="19" name="Text 17"/>
          <p:cNvSpPr/>
          <p:nvPr/>
        </p:nvSpPr>
        <p:spPr>
          <a:xfrm>
            <a:off x="3383280" y="2523744"/>
            <a:ext cx="2560320" cy="502920"/>
          </a:xfrm>
          <a:prstGeom prst="rect">
            <a:avLst/>
          </a:prstGeom>
          <a:noFill/>
          <a:ln/>
        </p:spPr>
        <p:txBody>
          <a:bodyPr wrap="square" lIns="0" tIns="0" rIns="0" bIns="0" rtlCol="0" anchor="ctr"/>
          <a:lstStyle/>
          <a:p>
            <a:pPr indent="0" marL="0">
              <a:buNone/>
            </a:pPr>
            <a:r>
              <a:rPr lang="en-US" sz="1100" dirty="0">
                <a:solidFill>
                  <a:srgbClr val="1E293B"/>
                </a:solidFill>
              </a:rPr>
              <a:t>  K-Means · GMM · Label Propagation</a:t>
            </a:r>
            <a:endParaRPr lang="en-US" sz="1100" dirty="0"/>
          </a:p>
        </p:txBody>
      </p:sp>
      <p:sp>
        <p:nvSpPr>
          <p:cNvPr id="20" name="Text 18"/>
          <p:cNvSpPr/>
          <p:nvPr/>
        </p:nvSpPr>
        <p:spPr>
          <a:xfrm>
            <a:off x="3383280" y="3099816"/>
            <a:ext cx="2560320" cy="502920"/>
          </a:xfrm>
          <a:prstGeom prst="rect">
            <a:avLst/>
          </a:prstGeom>
          <a:noFill/>
          <a:ln/>
        </p:spPr>
        <p:txBody>
          <a:bodyPr wrap="square" lIns="0" tIns="0" rIns="0" bIns="0" rtlCol="0" anchor="ctr"/>
          <a:lstStyle/>
          <a:p>
            <a:pPr indent="0" marL="0">
              <a:buNone/>
            </a:pPr>
            <a:r>
              <a:rPr lang="en-US" sz="1100" b="1" dirty="0">
                <a:solidFill>
                  <a:srgbClr val="1E293B"/>
                </a:solidFill>
              </a:rPr>
              <a:t>Model B — Distractor &amp; Hint Gen</a:t>
            </a:r>
            <a:endParaRPr lang="en-US" sz="1100" dirty="0"/>
          </a:p>
        </p:txBody>
      </p:sp>
      <p:sp>
        <p:nvSpPr>
          <p:cNvPr id="21" name="Shape 19"/>
          <p:cNvSpPr/>
          <p:nvPr/>
        </p:nvSpPr>
        <p:spPr>
          <a:xfrm>
            <a:off x="6217920" y="841248"/>
            <a:ext cx="2834640" cy="3858768"/>
          </a:xfrm>
          <a:prstGeom prst="rect">
            <a:avLst/>
          </a:prstGeom>
          <a:solidFill>
            <a:srgbClr val="F8FAFD"/>
          </a:solidFill>
          <a:ln w="19050">
            <a:solidFill>
              <a:srgbClr val="2563A8"/>
            </a:solidFill>
            <a:prstDash val="solid"/>
          </a:ln>
        </p:spPr>
      </p:sp>
      <p:sp>
        <p:nvSpPr>
          <p:cNvPr id="22" name="Shape 20"/>
          <p:cNvSpPr/>
          <p:nvPr/>
        </p:nvSpPr>
        <p:spPr>
          <a:xfrm>
            <a:off x="6217920" y="841248"/>
            <a:ext cx="2834640" cy="420624"/>
          </a:xfrm>
          <a:prstGeom prst="rect">
            <a:avLst/>
          </a:prstGeom>
          <a:solidFill>
            <a:srgbClr val="2563A8"/>
          </a:solidFill>
          <a:ln w="12700">
            <a:solidFill>
              <a:srgbClr val="2563A8"/>
            </a:solidFill>
            <a:prstDash val="solid"/>
          </a:ln>
        </p:spPr>
      </p:sp>
      <p:sp>
        <p:nvSpPr>
          <p:cNvPr id="23" name="Text 21"/>
          <p:cNvSpPr/>
          <p:nvPr/>
        </p:nvSpPr>
        <p:spPr>
          <a:xfrm>
            <a:off x="6217920" y="841248"/>
            <a:ext cx="2834640" cy="420624"/>
          </a:xfrm>
          <a:prstGeom prst="rect">
            <a:avLst/>
          </a:prstGeom>
          <a:noFill/>
          <a:ln/>
        </p:spPr>
        <p:txBody>
          <a:bodyPr wrap="square" lIns="0" tIns="0" rIns="0" bIns="0" rtlCol="0" anchor="ctr"/>
          <a:lstStyle/>
          <a:p>
            <a:pPr algn="ctr" indent="0" marL="0">
              <a:buNone/>
            </a:pPr>
            <a:r>
              <a:rPr lang="en-US" sz="1150" b="1" dirty="0">
                <a:solidFill>
                  <a:srgbClr val="FFFFFF"/>
                </a:solidFill>
              </a:rPr>
              <a:t>UI LAYER</a:t>
            </a:r>
            <a:endParaRPr lang="en-US" sz="1150" dirty="0"/>
          </a:p>
        </p:txBody>
      </p:sp>
      <p:sp>
        <p:nvSpPr>
          <p:cNvPr id="24" name="Text 22"/>
          <p:cNvSpPr/>
          <p:nvPr/>
        </p:nvSpPr>
        <p:spPr>
          <a:xfrm>
            <a:off x="6355080" y="1371600"/>
            <a:ext cx="2560320" cy="502920"/>
          </a:xfrm>
          <a:prstGeom prst="rect">
            <a:avLst/>
          </a:prstGeom>
          <a:noFill/>
          <a:ln/>
        </p:spPr>
        <p:txBody>
          <a:bodyPr wrap="square" lIns="0" tIns="0" rIns="0" bIns="0" rtlCol="0" anchor="ctr"/>
          <a:lstStyle/>
          <a:p>
            <a:pPr indent="0" marL="0">
              <a:buNone/>
            </a:pPr>
            <a:r>
              <a:rPr lang="en-US" sz="1100" dirty="0">
                <a:solidFill>
                  <a:srgbClr val="1E293B"/>
                </a:solidFill>
              </a:rPr>
              <a:t>Streamlit 4-Screen App</a:t>
            </a:r>
            <a:endParaRPr lang="en-US" sz="1100" dirty="0"/>
          </a:p>
        </p:txBody>
      </p:sp>
      <p:sp>
        <p:nvSpPr>
          <p:cNvPr id="25" name="Text 23"/>
          <p:cNvSpPr/>
          <p:nvPr/>
        </p:nvSpPr>
        <p:spPr>
          <a:xfrm>
            <a:off x="6355080" y="1947672"/>
            <a:ext cx="2560320" cy="502920"/>
          </a:xfrm>
          <a:prstGeom prst="rect">
            <a:avLst/>
          </a:prstGeom>
          <a:noFill/>
          <a:ln/>
        </p:spPr>
        <p:txBody>
          <a:bodyPr wrap="square" lIns="0" tIns="0" rIns="0" bIns="0" rtlCol="0" anchor="ctr"/>
          <a:lstStyle/>
          <a:p>
            <a:pPr indent="0" marL="0">
              <a:buNone/>
            </a:pPr>
            <a:r>
              <a:rPr lang="en-US" sz="1100" dirty="0">
                <a:solidFill>
                  <a:srgbClr val="1E293B"/>
                </a:solidFill>
              </a:rPr>
              <a:t>Article Input Screen</a:t>
            </a:r>
            <a:endParaRPr lang="en-US" sz="1100" dirty="0"/>
          </a:p>
        </p:txBody>
      </p:sp>
      <p:sp>
        <p:nvSpPr>
          <p:cNvPr id="26" name="Text 24"/>
          <p:cNvSpPr/>
          <p:nvPr/>
        </p:nvSpPr>
        <p:spPr>
          <a:xfrm>
            <a:off x="6355080" y="2523744"/>
            <a:ext cx="2560320" cy="502920"/>
          </a:xfrm>
          <a:prstGeom prst="rect">
            <a:avLst/>
          </a:prstGeom>
          <a:noFill/>
          <a:ln/>
        </p:spPr>
        <p:txBody>
          <a:bodyPr wrap="square" lIns="0" tIns="0" rIns="0" bIns="0" rtlCol="0" anchor="ctr"/>
          <a:lstStyle/>
          <a:p>
            <a:pPr indent="0" marL="0">
              <a:buNone/>
            </a:pPr>
            <a:r>
              <a:rPr lang="en-US" sz="1100" dirty="0">
                <a:solidFill>
                  <a:srgbClr val="1E293B"/>
                </a:solidFill>
              </a:rPr>
              <a:t>Quiz / Answer Check Screen</a:t>
            </a:r>
            <a:endParaRPr lang="en-US" sz="1100" dirty="0"/>
          </a:p>
        </p:txBody>
      </p:sp>
      <p:sp>
        <p:nvSpPr>
          <p:cNvPr id="27" name="Text 25"/>
          <p:cNvSpPr/>
          <p:nvPr/>
        </p:nvSpPr>
        <p:spPr>
          <a:xfrm>
            <a:off x="6355080" y="3099816"/>
            <a:ext cx="2560320" cy="502920"/>
          </a:xfrm>
          <a:prstGeom prst="rect">
            <a:avLst/>
          </a:prstGeom>
          <a:noFill/>
          <a:ln/>
        </p:spPr>
        <p:txBody>
          <a:bodyPr wrap="square" lIns="0" tIns="0" rIns="0" bIns="0" rtlCol="0" anchor="ctr"/>
          <a:lstStyle/>
          <a:p>
            <a:pPr indent="0" marL="0">
              <a:buNone/>
            </a:pPr>
            <a:r>
              <a:rPr lang="en-US" sz="1100" dirty="0">
                <a:solidFill>
                  <a:srgbClr val="1E293B"/>
                </a:solidFill>
              </a:rPr>
              <a:t>Hint Panel + Analytics Dashboard</a:t>
            </a:r>
            <a:endParaRPr lang="en-US" sz="1100" dirty="0"/>
          </a:p>
        </p:txBody>
      </p:sp>
      <p:sp>
        <p:nvSpPr>
          <p:cNvPr id="28" name="Shape 26"/>
          <p:cNvSpPr/>
          <p:nvPr/>
        </p:nvSpPr>
        <p:spPr>
          <a:xfrm>
            <a:off x="3118104" y="2770632"/>
            <a:ext cx="128016" cy="0"/>
          </a:xfrm>
          <a:prstGeom prst="line">
            <a:avLst/>
          </a:prstGeom>
          <a:noFill/>
          <a:ln w="19050">
            <a:solidFill>
              <a:srgbClr val="64748B"/>
            </a:solidFill>
            <a:prstDash val="solid"/>
          </a:ln>
        </p:spPr>
      </p:sp>
      <p:sp>
        <p:nvSpPr>
          <p:cNvPr id="29" name="Shape 27"/>
          <p:cNvSpPr/>
          <p:nvPr/>
        </p:nvSpPr>
        <p:spPr>
          <a:xfrm>
            <a:off x="6089904" y="2770632"/>
            <a:ext cx="128016" cy="0"/>
          </a:xfrm>
          <a:prstGeom prst="line">
            <a:avLst/>
          </a:prstGeom>
          <a:noFill/>
          <a:ln w="19050">
            <a:solidFill>
              <a:srgbClr val="64748B"/>
            </a:solidFill>
            <a:prstDash val="solid"/>
          </a:ln>
        </p:spPr>
      </p:sp>
      <p:sp>
        <p:nvSpPr>
          <p:cNvPr id="30" name="Text 28"/>
          <p:cNvSpPr/>
          <p:nvPr/>
        </p:nvSpPr>
        <p:spPr>
          <a:xfrm>
            <a:off x="3063240" y="2651760"/>
            <a:ext cx="228600" cy="256032"/>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
        <p:nvSpPr>
          <p:cNvPr id="31" name="Text 29"/>
          <p:cNvSpPr/>
          <p:nvPr/>
        </p:nvSpPr>
        <p:spPr>
          <a:xfrm>
            <a:off x="6035040" y="2651760"/>
            <a:ext cx="228600" cy="256032"/>
          </a:xfrm>
          <a:prstGeom prst="rect">
            <a:avLst/>
          </a:prstGeom>
          <a:noFill/>
          <a:ln/>
        </p:spPr>
        <p:txBody>
          <a:bodyPr wrap="square" lIns="0" tIns="0" rIns="0" bIns="0" rtlCol="0" anchor="ctr"/>
          <a:lstStyle/>
          <a:p>
            <a:pPr algn="ctr" indent="0" marL="0">
              <a:buNone/>
            </a:pPr>
            <a:r>
              <a:rPr lang="en-US" sz="1800" dirty="0">
                <a:solidFill>
                  <a:srgbClr val="64748B"/>
                </a:solidFill>
              </a:rPr>
              <a: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Model A — Answer Verification: Design &amp; Training</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7 / 15</a:t>
            </a:r>
            <a:endParaRPr lang="en-US" sz="800" dirty="0"/>
          </a:p>
        </p:txBody>
      </p:sp>
      <p:sp>
        <p:nvSpPr>
          <p:cNvPr id="7" name="Shape 5"/>
          <p:cNvSpPr/>
          <p:nvPr/>
        </p:nvSpPr>
        <p:spPr>
          <a:xfrm>
            <a:off x="320040" y="896112"/>
            <a:ext cx="109728" cy="594360"/>
          </a:xfrm>
          <a:prstGeom prst="rect">
            <a:avLst/>
          </a:prstGeom>
          <a:solidFill>
            <a:srgbClr val="0D8A8A"/>
          </a:solidFill>
          <a:ln w="12700">
            <a:solidFill>
              <a:srgbClr val="0D8A8A"/>
            </a:solidFill>
            <a:prstDash val="solid"/>
          </a:ln>
        </p:spPr>
      </p:sp>
      <p:sp>
        <p:nvSpPr>
          <p:cNvPr id="8" name="Shape 6"/>
          <p:cNvSpPr/>
          <p:nvPr/>
        </p:nvSpPr>
        <p:spPr>
          <a:xfrm>
            <a:off x="448056" y="896112"/>
            <a:ext cx="5394960" cy="594360"/>
          </a:xfrm>
          <a:prstGeom prst="rect">
            <a:avLst/>
          </a:prstGeom>
          <a:solidFill>
            <a:srgbClr val="F4F7FB"/>
          </a:solidFill>
          <a:ln w="9525">
            <a:solidFill>
              <a:srgbClr val="E8EDF5"/>
            </a:solidFill>
            <a:prstDash val="solid"/>
          </a:ln>
        </p:spPr>
      </p:sp>
      <p:sp>
        <p:nvSpPr>
          <p:cNvPr id="9" name="Text 7"/>
          <p:cNvSpPr/>
          <p:nvPr/>
        </p:nvSpPr>
        <p:spPr>
          <a:xfrm>
            <a:off x="548640" y="914400"/>
            <a:ext cx="5212080" cy="246888"/>
          </a:xfrm>
          <a:prstGeom prst="rect">
            <a:avLst/>
          </a:prstGeom>
          <a:noFill/>
          <a:ln/>
        </p:spPr>
        <p:txBody>
          <a:bodyPr wrap="square" lIns="0" tIns="0" rIns="0" bIns="0" rtlCol="0" anchor="ctr"/>
          <a:lstStyle/>
          <a:p>
            <a:pPr indent="0" marL="0">
              <a:buNone/>
            </a:pPr>
            <a:r>
              <a:rPr lang="en-US" sz="1200" b="1" dirty="0">
                <a:solidFill>
                  <a:srgbClr val="1E293B"/>
                </a:solidFill>
              </a:rPr>
              <a:t>Logistic Regression</a:t>
            </a:r>
            <a:endParaRPr lang="en-US" sz="1200" dirty="0"/>
          </a:p>
        </p:txBody>
      </p:sp>
      <p:sp>
        <p:nvSpPr>
          <p:cNvPr id="10" name="Text 8"/>
          <p:cNvSpPr/>
          <p:nvPr/>
        </p:nvSpPr>
        <p:spPr>
          <a:xfrm>
            <a:off x="548640" y="1161288"/>
            <a:ext cx="5212080" cy="237744"/>
          </a:xfrm>
          <a:prstGeom prst="rect">
            <a:avLst/>
          </a:prstGeom>
          <a:noFill/>
          <a:ln/>
        </p:spPr>
        <p:txBody>
          <a:bodyPr wrap="square" lIns="0" tIns="0" rIns="0" bIns="0" rtlCol="0" anchor="ctr"/>
          <a:lstStyle/>
          <a:p>
            <a:pPr indent="0" marL="0">
              <a:buNone/>
            </a:pPr>
            <a:r>
              <a:rPr lang="en-US" sz="1050" dirty="0">
                <a:solidFill>
                  <a:srgbClr val="64748B"/>
                </a:solidFill>
              </a:rPr>
              <a:t>Recall-maximising baseline · soft-vote probability source</a:t>
            </a:r>
            <a:endParaRPr lang="en-US" sz="1050" dirty="0"/>
          </a:p>
        </p:txBody>
      </p:sp>
      <p:sp>
        <p:nvSpPr>
          <p:cNvPr id="11" name="Shape 9"/>
          <p:cNvSpPr/>
          <p:nvPr/>
        </p:nvSpPr>
        <p:spPr>
          <a:xfrm>
            <a:off x="320040" y="1636776"/>
            <a:ext cx="109728" cy="594360"/>
          </a:xfrm>
          <a:prstGeom prst="rect">
            <a:avLst/>
          </a:prstGeom>
          <a:solidFill>
            <a:srgbClr val="2563A8"/>
          </a:solidFill>
          <a:ln w="12700">
            <a:solidFill>
              <a:srgbClr val="2563A8"/>
            </a:solidFill>
            <a:prstDash val="solid"/>
          </a:ln>
        </p:spPr>
      </p:sp>
      <p:sp>
        <p:nvSpPr>
          <p:cNvPr id="12" name="Shape 10"/>
          <p:cNvSpPr/>
          <p:nvPr/>
        </p:nvSpPr>
        <p:spPr>
          <a:xfrm>
            <a:off x="448056" y="1636776"/>
            <a:ext cx="5394960" cy="594360"/>
          </a:xfrm>
          <a:prstGeom prst="rect">
            <a:avLst/>
          </a:prstGeom>
          <a:solidFill>
            <a:srgbClr val="F4F7FB"/>
          </a:solidFill>
          <a:ln w="9525">
            <a:solidFill>
              <a:srgbClr val="E8EDF5"/>
            </a:solidFill>
            <a:prstDash val="solid"/>
          </a:ln>
        </p:spPr>
      </p:sp>
      <p:sp>
        <p:nvSpPr>
          <p:cNvPr id="13" name="Text 11"/>
          <p:cNvSpPr/>
          <p:nvPr/>
        </p:nvSpPr>
        <p:spPr>
          <a:xfrm>
            <a:off x="548640" y="1655064"/>
            <a:ext cx="5212080" cy="246888"/>
          </a:xfrm>
          <a:prstGeom prst="rect">
            <a:avLst/>
          </a:prstGeom>
          <a:noFill/>
          <a:ln/>
        </p:spPr>
        <p:txBody>
          <a:bodyPr wrap="square" lIns="0" tIns="0" rIns="0" bIns="0" rtlCol="0" anchor="ctr"/>
          <a:lstStyle/>
          <a:p>
            <a:pPr indent="0" marL="0">
              <a:buNone/>
            </a:pPr>
            <a:r>
              <a:rPr lang="en-US" sz="1200" b="1" dirty="0">
                <a:solidFill>
                  <a:srgbClr val="1E293B"/>
                </a:solidFill>
              </a:rPr>
              <a:t>Linear SVC (Calibrated)</a:t>
            </a:r>
            <a:endParaRPr lang="en-US" sz="1200" dirty="0"/>
          </a:p>
        </p:txBody>
      </p:sp>
      <p:sp>
        <p:nvSpPr>
          <p:cNvPr id="14" name="Text 12"/>
          <p:cNvSpPr/>
          <p:nvPr/>
        </p:nvSpPr>
        <p:spPr>
          <a:xfrm>
            <a:off x="548640" y="1901952"/>
            <a:ext cx="5212080" cy="237744"/>
          </a:xfrm>
          <a:prstGeom prst="rect">
            <a:avLst/>
          </a:prstGeom>
          <a:noFill/>
          <a:ln/>
        </p:spPr>
        <p:txBody>
          <a:bodyPr wrap="square" lIns="0" tIns="0" rIns="0" bIns="0" rtlCol="0" anchor="ctr"/>
          <a:lstStyle/>
          <a:p>
            <a:pPr indent="0" marL="0">
              <a:buNone/>
            </a:pPr>
            <a:r>
              <a:rPr lang="en-US" sz="1050" dirty="0">
                <a:solidFill>
                  <a:srgbClr val="64748B"/>
                </a:solidFill>
              </a:rPr>
              <a:t>High-dimensional sparse text · fastest convergence</a:t>
            </a:r>
            <a:endParaRPr lang="en-US" sz="1050" dirty="0"/>
          </a:p>
        </p:txBody>
      </p:sp>
      <p:sp>
        <p:nvSpPr>
          <p:cNvPr id="15" name="Shape 13"/>
          <p:cNvSpPr/>
          <p:nvPr/>
        </p:nvSpPr>
        <p:spPr>
          <a:xfrm>
            <a:off x="320040" y="2377440"/>
            <a:ext cx="109728" cy="594360"/>
          </a:xfrm>
          <a:prstGeom prst="rect">
            <a:avLst/>
          </a:prstGeom>
          <a:solidFill>
            <a:srgbClr val="1A2B4A"/>
          </a:solidFill>
          <a:ln w="12700">
            <a:solidFill>
              <a:srgbClr val="1A2B4A"/>
            </a:solidFill>
            <a:prstDash val="solid"/>
          </a:ln>
        </p:spPr>
      </p:sp>
      <p:sp>
        <p:nvSpPr>
          <p:cNvPr id="16" name="Shape 14"/>
          <p:cNvSpPr/>
          <p:nvPr/>
        </p:nvSpPr>
        <p:spPr>
          <a:xfrm>
            <a:off x="448056" y="2377440"/>
            <a:ext cx="5394960" cy="594360"/>
          </a:xfrm>
          <a:prstGeom prst="rect">
            <a:avLst/>
          </a:prstGeom>
          <a:solidFill>
            <a:srgbClr val="F4F7FB"/>
          </a:solidFill>
          <a:ln w="9525">
            <a:solidFill>
              <a:srgbClr val="E8EDF5"/>
            </a:solidFill>
            <a:prstDash val="solid"/>
          </a:ln>
        </p:spPr>
      </p:sp>
      <p:sp>
        <p:nvSpPr>
          <p:cNvPr id="17" name="Text 15"/>
          <p:cNvSpPr/>
          <p:nvPr/>
        </p:nvSpPr>
        <p:spPr>
          <a:xfrm>
            <a:off x="548640" y="2395728"/>
            <a:ext cx="5212080" cy="246888"/>
          </a:xfrm>
          <a:prstGeom prst="rect">
            <a:avLst/>
          </a:prstGeom>
          <a:noFill/>
          <a:ln/>
        </p:spPr>
        <p:txBody>
          <a:bodyPr wrap="square" lIns="0" tIns="0" rIns="0" bIns="0" rtlCol="0" anchor="ctr"/>
          <a:lstStyle/>
          <a:p>
            <a:pPr indent="0" marL="0">
              <a:buNone/>
            </a:pPr>
            <a:r>
              <a:rPr lang="en-US" sz="1200" b="1" dirty="0">
                <a:solidFill>
                  <a:srgbClr val="1E293B"/>
                </a:solidFill>
              </a:rPr>
              <a:t>Random Forest ★ PRIMARY</a:t>
            </a:r>
            <a:endParaRPr lang="en-US" sz="1200" dirty="0"/>
          </a:p>
        </p:txBody>
      </p:sp>
      <p:sp>
        <p:nvSpPr>
          <p:cNvPr id="18" name="Text 16"/>
          <p:cNvSpPr/>
          <p:nvPr/>
        </p:nvSpPr>
        <p:spPr>
          <a:xfrm>
            <a:off x="548640" y="2642616"/>
            <a:ext cx="5212080" cy="237744"/>
          </a:xfrm>
          <a:prstGeom prst="rect">
            <a:avLst/>
          </a:prstGeom>
          <a:noFill/>
          <a:ln/>
        </p:spPr>
        <p:txBody>
          <a:bodyPr wrap="square" lIns="0" tIns="0" rIns="0" bIns="0" rtlCol="0" anchor="ctr"/>
          <a:lstStyle/>
          <a:p>
            <a:pPr indent="0" marL="0">
              <a:buNone/>
            </a:pPr>
            <a:r>
              <a:rPr lang="en-US" sz="1050" dirty="0">
                <a:solidFill>
                  <a:srgbClr val="64748B"/>
                </a:solidFill>
              </a:rPr>
              <a:t>Highest Macro F1 (0.505) · handles non-linear interactions</a:t>
            </a:r>
            <a:endParaRPr lang="en-US" sz="1050" dirty="0"/>
          </a:p>
        </p:txBody>
      </p:sp>
      <p:sp>
        <p:nvSpPr>
          <p:cNvPr id="19" name="Shape 17"/>
          <p:cNvSpPr/>
          <p:nvPr/>
        </p:nvSpPr>
        <p:spPr>
          <a:xfrm>
            <a:off x="320040" y="3118104"/>
            <a:ext cx="109728" cy="594360"/>
          </a:xfrm>
          <a:prstGeom prst="rect">
            <a:avLst/>
          </a:prstGeom>
          <a:solidFill>
            <a:srgbClr val="B45309"/>
          </a:solidFill>
          <a:ln w="12700">
            <a:solidFill>
              <a:srgbClr val="B45309"/>
            </a:solidFill>
            <a:prstDash val="solid"/>
          </a:ln>
        </p:spPr>
      </p:sp>
      <p:sp>
        <p:nvSpPr>
          <p:cNvPr id="20" name="Shape 18"/>
          <p:cNvSpPr/>
          <p:nvPr/>
        </p:nvSpPr>
        <p:spPr>
          <a:xfrm>
            <a:off x="448056" y="3118104"/>
            <a:ext cx="5394960" cy="594360"/>
          </a:xfrm>
          <a:prstGeom prst="rect">
            <a:avLst/>
          </a:prstGeom>
          <a:solidFill>
            <a:srgbClr val="F4F7FB"/>
          </a:solidFill>
          <a:ln w="9525">
            <a:solidFill>
              <a:srgbClr val="E8EDF5"/>
            </a:solidFill>
            <a:prstDash val="solid"/>
          </a:ln>
        </p:spPr>
      </p:sp>
      <p:sp>
        <p:nvSpPr>
          <p:cNvPr id="21" name="Text 19"/>
          <p:cNvSpPr/>
          <p:nvPr/>
        </p:nvSpPr>
        <p:spPr>
          <a:xfrm>
            <a:off x="548640" y="3136392"/>
            <a:ext cx="5212080" cy="246888"/>
          </a:xfrm>
          <a:prstGeom prst="rect">
            <a:avLst/>
          </a:prstGeom>
          <a:noFill/>
          <a:ln/>
        </p:spPr>
        <p:txBody>
          <a:bodyPr wrap="square" lIns="0" tIns="0" rIns="0" bIns="0" rtlCol="0" anchor="ctr"/>
          <a:lstStyle/>
          <a:p>
            <a:pPr indent="0" marL="0">
              <a:buNone/>
            </a:pPr>
            <a:r>
              <a:rPr lang="en-US" sz="1200" b="1" dirty="0">
                <a:solidFill>
                  <a:srgbClr val="1E293B"/>
                </a:solidFill>
              </a:rPr>
              <a:t>Soft-Vote Ensemble</a:t>
            </a:r>
            <a:endParaRPr lang="en-US" sz="1200" dirty="0"/>
          </a:p>
        </p:txBody>
      </p:sp>
      <p:sp>
        <p:nvSpPr>
          <p:cNvPr id="22" name="Text 20"/>
          <p:cNvSpPr/>
          <p:nvPr/>
        </p:nvSpPr>
        <p:spPr>
          <a:xfrm>
            <a:off x="548640" y="3383280"/>
            <a:ext cx="5212080" cy="237744"/>
          </a:xfrm>
          <a:prstGeom prst="rect">
            <a:avLst/>
          </a:prstGeom>
          <a:noFill/>
          <a:ln/>
        </p:spPr>
        <p:txBody>
          <a:bodyPr wrap="square" lIns="0" tIns="0" rIns="0" bIns="0" rtlCol="0" anchor="ctr"/>
          <a:lstStyle/>
          <a:p>
            <a:pPr indent="0" marL="0">
              <a:buNone/>
            </a:pPr>
            <a:r>
              <a:rPr lang="en-US" sz="1050" dirty="0">
                <a:solidFill>
                  <a:srgbClr val="64748B"/>
                </a:solidFill>
              </a:rPr>
              <a:t>LR + SVC + RF avg probability · threshold = 0.49</a:t>
            </a:r>
            <a:endParaRPr lang="en-US" sz="1050" dirty="0"/>
          </a:p>
        </p:txBody>
      </p:sp>
      <p:sp>
        <p:nvSpPr>
          <p:cNvPr id="23" name="Shape 21"/>
          <p:cNvSpPr/>
          <p:nvPr/>
        </p:nvSpPr>
        <p:spPr>
          <a:xfrm>
            <a:off x="320040" y="3858768"/>
            <a:ext cx="109728" cy="594360"/>
          </a:xfrm>
          <a:prstGeom prst="rect">
            <a:avLst/>
          </a:prstGeom>
          <a:solidFill>
            <a:srgbClr val="059669"/>
          </a:solidFill>
          <a:ln w="12700">
            <a:solidFill>
              <a:srgbClr val="059669"/>
            </a:solidFill>
            <a:prstDash val="solid"/>
          </a:ln>
        </p:spPr>
      </p:sp>
      <p:sp>
        <p:nvSpPr>
          <p:cNvPr id="24" name="Shape 22"/>
          <p:cNvSpPr/>
          <p:nvPr/>
        </p:nvSpPr>
        <p:spPr>
          <a:xfrm>
            <a:off x="448056" y="3858768"/>
            <a:ext cx="5394960" cy="594360"/>
          </a:xfrm>
          <a:prstGeom prst="rect">
            <a:avLst/>
          </a:prstGeom>
          <a:solidFill>
            <a:srgbClr val="F4F7FB"/>
          </a:solidFill>
          <a:ln w="9525">
            <a:solidFill>
              <a:srgbClr val="E8EDF5"/>
            </a:solidFill>
            <a:prstDash val="solid"/>
          </a:ln>
        </p:spPr>
      </p:sp>
      <p:sp>
        <p:nvSpPr>
          <p:cNvPr id="25" name="Text 23"/>
          <p:cNvSpPr/>
          <p:nvPr/>
        </p:nvSpPr>
        <p:spPr>
          <a:xfrm>
            <a:off x="548640" y="3877056"/>
            <a:ext cx="5212080" cy="246888"/>
          </a:xfrm>
          <a:prstGeom prst="rect">
            <a:avLst/>
          </a:prstGeom>
          <a:noFill/>
          <a:ln/>
        </p:spPr>
        <p:txBody>
          <a:bodyPr wrap="square" lIns="0" tIns="0" rIns="0" bIns="0" rtlCol="0" anchor="ctr"/>
          <a:lstStyle/>
          <a:p>
            <a:pPr indent="0" marL="0">
              <a:buNone/>
            </a:pPr>
            <a:r>
              <a:rPr lang="en-US" sz="1200" b="1" dirty="0">
                <a:solidFill>
                  <a:srgbClr val="1E293B"/>
                </a:solidFill>
              </a:rPr>
              <a:t>Label Propagation</a:t>
            </a:r>
            <a:endParaRPr lang="en-US" sz="1200" dirty="0"/>
          </a:p>
        </p:txBody>
      </p:sp>
      <p:sp>
        <p:nvSpPr>
          <p:cNvPr id="26" name="Text 24"/>
          <p:cNvSpPr/>
          <p:nvPr/>
        </p:nvSpPr>
        <p:spPr>
          <a:xfrm>
            <a:off x="548640" y="4123944"/>
            <a:ext cx="5212080" cy="237744"/>
          </a:xfrm>
          <a:prstGeom prst="rect">
            <a:avLst/>
          </a:prstGeom>
          <a:noFill/>
          <a:ln/>
        </p:spPr>
        <p:txBody>
          <a:bodyPr wrap="square" lIns="0" tIns="0" rIns="0" bIns="0" rtlCol="0" anchor="ctr"/>
          <a:lstStyle/>
          <a:p>
            <a:pPr indent="0" marL="0">
              <a:buNone/>
            </a:pPr>
            <a:r>
              <a:rPr lang="en-US" sz="1050" dirty="0">
                <a:solidFill>
                  <a:srgbClr val="64748B"/>
                </a:solidFill>
              </a:rPr>
              <a:t>80% unlabeled data → best accuracy (72.3%) · manifold assumption</a:t>
            </a:r>
            <a:endParaRPr lang="en-US" sz="1050" dirty="0"/>
          </a:p>
        </p:txBody>
      </p:sp>
      <p:sp>
        <p:nvSpPr>
          <p:cNvPr id="27" name="Shape 25"/>
          <p:cNvSpPr/>
          <p:nvPr/>
        </p:nvSpPr>
        <p:spPr>
          <a:xfrm>
            <a:off x="5989320" y="841248"/>
            <a:ext cx="2834640" cy="3858768"/>
          </a:xfrm>
          <a:prstGeom prst="rect">
            <a:avLst/>
          </a:prstGeom>
          <a:solidFill>
            <a:srgbClr val="F4F7FB"/>
          </a:solidFill>
          <a:ln w="12700">
            <a:solidFill>
              <a:srgbClr val="E8EDF5"/>
            </a:solidFill>
            <a:prstDash val="solid"/>
          </a:ln>
        </p:spPr>
      </p:sp>
      <p:sp>
        <p:nvSpPr>
          <p:cNvPr id="28" name="Text 26"/>
          <p:cNvSpPr/>
          <p:nvPr/>
        </p:nvSpPr>
        <p:spPr>
          <a:xfrm>
            <a:off x="6080760" y="886968"/>
            <a:ext cx="2651760" cy="274320"/>
          </a:xfrm>
          <a:prstGeom prst="rect">
            <a:avLst/>
          </a:prstGeom>
          <a:noFill/>
          <a:ln/>
        </p:spPr>
        <p:txBody>
          <a:bodyPr wrap="square" rtlCol="0" anchor="ctr"/>
          <a:lstStyle/>
          <a:p>
            <a:pPr indent="0" marL="0">
              <a:buNone/>
            </a:pPr>
            <a:r>
              <a:rPr lang="en-US" sz="1250" b="1" dirty="0">
                <a:solidFill>
                  <a:srgbClr val="2563A8"/>
                </a:solidFill>
              </a:rPr>
              <a:t>Training Setup</a:t>
            </a:r>
            <a:endParaRPr lang="en-US" sz="1250" dirty="0"/>
          </a:p>
        </p:txBody>
      </p:sp>
      <p:sp>
        <p:nvSpPr>
          <p:cNvPr id="29" name="Text 27"/>
          <p:cNvSpPr/>
          <p:nvPr/>
        </p:nvSpPr>
        <p:spPr>
          <a:xfrm>
            <a:off x="6080760" y="1188720"/>
            <a:ext cx="2651760" cy="3383280"/>
          </a:xfrm>
          <a:prstGeom prst="rect">
            <a:avLst/>
          </a:prstGeom>
          <a:noFill/>
          <a:ln/>
        </p:spPr>
        <p:txBody>
          <a:bodyPr wrap="square" rtlCol="0" anchor="ctr"/>
          <a:lstStyle/>
          <a:p>
            <a:pPr marL="342900" indent="-342900">
              <a:buSzPct val="100000"/>
              <a:buChar char="•"/>
            </a:pPr>
            <a:r>
              <a:rPr lang="en-US" sz="1350" dirty="0">
                <a:solidFill>
                  <a:srgbClr val="1E293B"/>
                </a:solidFill>
              </a:rPr>
              <a:t>87,866 training rows</a:t>
            </a:r>
            <a:endParaRPr lang="en-US" sz="1350" dirty="0"/>
          </a:p>
          <a:p>
            <a:pPr marL="342900" indent="-342900">
              <a:buSzPct val="100000"/>
              <a:buChar char="•"/>
            </a:pPr>
            <a:r>
              <a:rPr lang="en-US" sz="1350" dirty="0">
                <a:solidFill>
                  <a:srgbClr val="1E293B"/>
                </a:solidFill>
              </a:rPr>
              <a:t>50,000 TF-IDF features (sparse)</a:t>
            </a:r>
            <a:endParaRPr lang="en-US" sz="1350" dirty="0"/>
          </a:p>
          <a:p>
            <a:pPr marL="342900" indent="-342900">
              <a:buSzPct val="100000"/>
              <a:buChar char="•"/>
            </a:pPr>
            <a:r>
              <a:rPr lang="en-US" sz="1350" dirty="0">
                <a:solidFill>
                  <a:srgbClr val="1E293B"/>
                </a:solidFill>
              </a:rPr>
              <a:t>class_weight='balanced' on all CLFs</a:t>
            </a:r>
            <a:endParaRPr lang="en-US" sz="1350" dirty="0"/>
          </a:p>
          <a:p>
            <a:pPr marL="342900" indent="-342900">
              <a:buSzPct val="100000"/>
              <a:buChar char="•"/>
            </a:pPr>
            <a:r>
              <a:rPr lang="en-US" sz="1350" dirty="0">
                <a:solidFill>
                  <a:srgbClr val="1E293B"/>
                </a:solidFill>
              </a:rPr>
              <a:t>GridSearchCV 5-fold on RF</a:t>
            </a:r>
            <a:endParaRPr lang="en-US" sz="1350" dirty="0"/>
          </a:p>
          <a:p>
            <a:pPr marL="342900" indent="-342900">
              <a:buSzPct val="100000"/>
              <a:buChar char="•"/>
            </a:pPr>
            <a:r>
              <a:rPr lang="en-US" sz="1350" dirty="0">
                <a:solidFill>
                  <a:srgbClr val="1E293B"/>
                </a:solidFill>
              </a:rPr>
              <a:t>TruncatedSVD (200 dims) before clustering</a:t>
            </a:r>
            <a:endParaRPr lang="en-US" sz="1350" dirty="0"/>
          </a:p>
          <a:p>
            <a:pPr marL="342900" indent="-342900">
              <a:buSzPct val="100000"/>
              <a:buChar char="•"/>
            </a:pPr>
            <a:r>
              <a:rPr lang="en-US" sz="1350" dirty="0">
                <a:solidFill>
                  <a:srgbClr val="1E293B"/>
                </a:solidFill>
              </a:rPr>
              <a:t>K-Means k=2 · GMM fitted on SVD space</a:t>
            </a:r>
            <a:endParaRPr lang="en-US" sz="1350" dirty="0"/>
          </a:p>
          <a:p>
            <a:pPr marL="342900" indent="-342900">
              <a:buSzPct val="100000"/>
              <a:buChar char="•"/>
            </a:pPr>
            <a:r>
              <a:rPr lang="en-US" sz="1350" dirty="0">
                <a:solidFill>
                  <a:srgbClr val="1E293B"/>
                </a:solidFill>
              </a:rPr>
              <a:t>Label Propagation: 20% seed → 80% propagated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Model A — Results &amp; The Accuracy vs. Macro F1 Trap</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8 / 15</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868680"/>
          <a:ext cx="8503920" cy="2487168"/>
        </p:xfrm>
        <a:graphic>
          <a:graphicData uri="http://schemas.openxmlformats.org/drawingml/2006/table">
            <a:tbl>
              <a:tblPr/>
              <a:tblGrid>
                <a:gridCol w="2468880"/>
                <a:gridCol w="1280160"/>
                <a:gridCol w="1737360"/>
                <a:gridCol w="1600200"/>
                <a:gridCol w="1417320"/>
              </a:tblGrid>
              <a:tr h="355310">
                <a:tc>
                  <a:txBody>
                    <a:bodyPr/>
                    <a:lstStyle/>
                    <a:p>
                      <a:pPr indent="0" marL="0">
                        <a:buNone/>
                      </a:pPr>
                      <a:r>
                        <a:rPr lang="en-US" sz="1050" b="1" dirty="0">
                          <a:solidFill>
                            <a:srgbClr val="FFFFFF"/>
                          </a:solidFill>
                        </a:rPr>
                        <a:t>Model</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c>
                  <a:txBody>
                    <a:bodyPr/>
                    <a:lstStyle/>
                    <a:p>
                      <a:pPr indent="0" marL="0">
                        <a:buNone/>
                      </a:pPr>
                      <a:r>
                        <a:rPr lang="en-US" sz="1050" b="1" dirty="0">
                          <a:solidFill>
                            <a:srgbClr val="FFFFFF"/>
                          </a:solidFill>
                        </a:rPr>
                        <a:t>Accuracy</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c>
                  <a:txBody>
                    <a:bodyPr/>
                    <a:lstStyle/>
                    <a:p>
                      <a:pPr indent="0" marL="0">
                        <a:buNone/>
                      </a:pPr>
                      <a:r>
                        <a:rPr lang="en-US" sz="1050" b="1" dirty="0">
                          <a:solidFill>
                            <a:srgbClr val="FFFFFF"/>
                          </a:solidFill>
                        </a:rPr>
                        <a:t>Precision (Macro)</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c>
                  <a:txBody>
                    <a:bodyPr/>
                    <a:lstStyle/>
                    <a:p>
                      <a:pPr indent="0" marL="0">
                        <a:buNone/>
                      </a:pPr>
                      <a:r>
                        <a:rPr lang="en-US" sz="1050" b="1" dirty="0">
                          <a:solidFill>
                            <a:srgbClr val="FFFFFF"/>
                          </a:solidFill>
                        </a:rPr>
                        <a:t>Recall (Macro)</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c>
                  <a:txBody>
                    <a:bodyPr/>
                    <a:lstStyle/>
                    <a:p>
                      <a:pPr indent="0" marL="0">
                        <a:buNone/>
                      </a:pPr>
                      <a:r>
                        <a:rPr lang="en-US" sz="1050" b="1" dirty="0">
                          <a:solidFill>
                            <a:srgbClr val="FFFFFF"/>
                          </a:solidFill>
                        </a:rPr>
                        <a:t>Macro F1</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r>
              <a:tr h="355310">
                <a:tc>
                  <a:txBody>
                    <a:bodyPr/>
                    <a:lstStyle/>
                    <a:p>
                      <a:pPr indent="0" marL="0">
                        <a:buNone/>
                      </a:pPr>
                      <a:r>
                        <a:rPr lang="en-US" sz="1050" dirty="0">
                          <a:solidFill>
                            <a:srgbClr val="000000"/>
                          </a:solidFill>
                        </a:rPr>
                        <a:t>Logistic Regression</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53.29%</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0.535</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0.545</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0.523</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r>
              <a:tr h="355310">
                <a:tc>
                  <a:txBody>
                    <a:bodyPr/>
                    <a:lstStyle/>
                    <a:p>
                      <a:pPr indent="0" marL="0">
                        <a:buNone/>
                      </a:pPr>
                      <a:r>
                        <a:rPr lang="en-US" sz="1050" dirty="0">
                          <a:solidFill>
                            <a:srgbClr val="000000"/>
                          </a:solidFill>
                        </a:rPr>
                        <a:t>Linear SVC</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b="1" dirty="0">
                          <a:solidFill>
                            <a:srgbClr val="F59E0B"/>
                          </a:solidFill>
                        </a:rPr>
                        <a:t>74.99%</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0.589</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0.500</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0.429</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r>
              <a:tr h="355310">
                <a:tc>
                  <a:txBody>
                    <a:bodyPr/>
                    <a:lstStyle/>
                    <a:p>
                      <a:pPr indent="0" marL="0">
                        <a:buNone/>
                      </a:pPr>
                      <a:r>
                        <a:rPr lang="en-US" sz="1050" dirty="0">
                          <a:solidFill>
                            <a:srgbClr val="000000"/>
                          </a:solidFill>
                        </a:rPr>
                        <a:t>Naive Bayes ⚠</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75.00%</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0.375</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0.500</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0.428</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r>
              <a:tr h="355310">
                <a:tc>
                  <a:txBody>
                    <a:bodyPr/>
                    <a:lstStyle/>
                    <a:p>
                      <a:pPr indent="0" marL="0">
                        <a:buNone/>
                      </a:pPr>
                      <a:r>
                        <a:rPr lang="en-US" sz="1050" dirty="0">
                          <a:solidFill>
                            <a:srgbClr val="000000"/>
                          </a:solidFill>
                        </a:rPr>
                        <a:t>Random Forest ★</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64.72%</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0.542</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0.546</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b="1" dirty="0">
                          <a:solidFill>
                            <a:srgbClr val="059669"/>
                          </a:solidFill>
                        </a:rPr>
                        <a:t>0.505</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r>
              <a:tr h="355310">
                <a:tc>
                  <a:txBody>
                    <a:bodyPr/>
                    <a:lstStyle/>
                    <a:p>
                      <a:pPr indent="0" marL="0">
                        <a:buNone/>
                      </a:pPr>
                      <a:r>
                        <a:rPr lang="en-US" sz="1050" dirty="0">
                          <a:solidFill>
                            <a:srgbClr val="000000"/>
                          </a:solidFill>
                        </a:rPr>
                        <a:t>Soft-Vote Ensemble</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74.41%</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0.544</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0.504</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0.448</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r>
              <a:tr h="355310">
                <a:tc>
                  <a:txBody>
                    <a:bodyPr/>
                    <a:lstStyle/>
                    <a:p>
                      <a:pPr indent="0" marL="0">
                        <a:buNone/>
                      </a:pPr>
                      <a:r>
                        <a:rPr lang="en-US" sz="1050" dirty="0">
                          <a:solidFill>
                            <a:srgbClr val="000000"/>
                          </a:solidFill>
                        </a:rPr>
                        <a:t>Label Propagation ✦</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72.30%</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0.634*</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0.723*</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b="1" dirty="0">
                          <a:solidFill>
                            <a:srgbClr val="059669"/>
                          </a:solidFill>
                        </a:rPr>
                        <a:t>0.652*</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r>
            </a:tbl>
          </a:graphicData>
        </a:graphic>
      </p:graphicFrame>
      <p:sp>
        <p:nvSpPr>
          <p:cNvPr id="8" name="Shape 5"/>
          <p:cNvSpPr/>
          <p:nvPr/>
        </p:nvSpPr>
        <p:spPr>
          <a:xfrm>
            <a:off x="320040" y="3493008"/>
            <a:ext cx="4023360" cy="1078992"/>
          </a:xfrm>
          <a:prstGeom prst="rect">
            <a:avLst/>
          </a:prstGeom>
          <a:solidFill>
            <a:srgbClr val="FFF7ED"/>
          </a:solidFill>
          <a:ln w="19050">
            <a:solidFill>
              <a:srgbClr val="F59E0B"/>
            </a:solidFill>
            <a:prstDash val="solid"/>
          </a:ln>
        </p:spPr>
      </p:sp>
      <p:sp>
        <p:nvSpPr>
          <p:cNvPr id="9" name="Text 6"/>
          <p:cNvSpPr/>
          <p:nvPr/>
        </p:nvSpPr>
        <p:spPr>
          <a:xfrm>
            <a:off x="457200" y="3538728"/>
            <a:ext cx="3749040" cy="274320"/>
          </a:xfrm>
          <a:prstGeom prst="rect">
            <a:avLst/>
          </a:prstGeom>
          <a:noFill/>
          <a:ln/>
        </p:spPr>
        <p:txBody>
          <a:bodyPr wrap="square" rtlCol="0" anchor="ctr"/>
          <a:lstStyle/>
          <a:p>
            <a:pPr indent="0" marL="0">
              <a:buNone/>
            </a:pPr>
            <a:r>
              <a:rPr lang="en-US" sz="1200" b="1" dirty="0">
                <a:solidFill>
                  <a:srgbClr val="B45309"/>
                </a:solidFill>
              </a:rPr>
              <a:t>⚠  Accuracy is Misleading</a:t>
            </a:r>
            <a:endParaRPr lang="en-US" sz="1200" dirty="0"/>
          </a:p>
        </p:txBody>
      </p:sp>
      <p:sp>
        <p:nvSpPr>
          <p:cNvPr id="10" name="Text 7"/>
          <p:cNvSpPr/>
          <p:nvPr/>
        </p:nvSpPr>
        <p:spPr>
          <a:xfrm>
            <a:off x="457200" y="3813048"/>
            <a:ext cx="3749040" cy="685800"/>
          </a:xfrm>
          <a:prstGeom prst="rect">
            <a:avLst/>
          </a:prstGeom>
          <a:noFill/>
          <a:ln/>
        </p:spPr>
        <p:txBody>
          <a:bodyPr wrap="square" rtlCol="0" anchor="ctr"/>
          <a:lstStyle/>
          <a:p>
            <a:pPr indent="0" marL="0">
              <a:buNone/>
            </a:pPr>
            <a:r>
              <a:rPr lang="en-US" sz="1050" dirty="0">
                <a:solidFill>
                  <a:srgbClr val="1E293B"/>
                </a:solidFill>
              </a:rPr>
              <a:t>Naive Bayes &amp; SVC both hit ~75% — simply by predicting the majority class. Macro F1 exposes this: 0.428 vs Random Forest's 0.505.</a:t>
            </a:r>
            <a:endParaRPr lang="en-US" sz="1050" dirty="0"/>
          </a:p>
        </p:txBody>
      </p:sp>
      <p:sp>
        <p:nvSpPr>
          <p:cNvPr id="11" name="Shape 8"/>
          <p:cNvSpPr/>
          <p:nvPr/>
        </p:nvSpPr>
        <p:spPr>
          <a:xfrm>
            <a:off x="4709160" y="3493008"/>
            <a:ext cx="4114800" cy="1078992"/>
          </a:xfrm>
          <a:prstGeom prst="rect">
            <a:avLst/>
          </a:prstGeom>
          <a:solidFill>
            <a:srgbClr val="ECFDF5"/>
          </a:solidFill>
          <a:ln w="19050">
            <a:solidFill>
              <a:srgbClr val="059669"/>
            </a:solidFill>
            <a:prstDash val="solid"/>
          </a:ln>
        </p:spPr>
      </p:sp>
      <p:sp>
        <p:nvSpPr>
          <p:cNvPr id="12" name="Text 9"/>
          <p:cNvSpPr/>
          <p:nvPr/>
        </p:nvSpPr>
        <p:spPr>
          <a:xfrm>
            <a:off x="4846320" y="3538728"/>
            <a:ext cx="3840480" cy="274320"/>
          </a:xfrm>
          <a:prstGeom prst="rect">
            <a:avLst/>
          </a:prstGeom>
          <a:noFill/>
          <a:ln/>
        </p:spPr>
        <p:txBody>
          <a:bodyPr wrap="square" rtlCol="0" anchor="ctr"/>
          <a:lstStyle/>
          <a:p>
            <a:pPr indent="0" marL="0">
              <a:buNone/>
            </a:pPr>
            <a:r>
              <a:rPr lang="en-US" sz="1200" b="1" dirty="0">
                <a:solidFill>
                  <a:srgbClr val="065F46"/>
                </a:solidFill>
              </a:rPr>
              <a:t>✦  Label Propagation Win</a:t>
            </a:r>
            <a:endParaRPr lang="en-US" sz="1200" dirty="0"/>
          </a:p>
        </p:txBody>
      </p:sp>
      <p:sp>
        <p:nvSpPr>
          <p:cNvPr id="13" name="Text 10"/>
          <p:cNvSpPr/>
          <p:nvPr/>
        </p:nvSpPr>
        <p:spPr>
          <a:xfrm>
            <a:off x="4846320" y="3813048"/>
            <a:ext cx="3840480" cy="685800"/>
          </a:xfrm>
          <a:prstGeom prst="rect">
            <a:avLst/>
          </a:prstGeom>
          <a:noFill/>
          <a:ln/>
        </p:spPr>
        <p:txBody>
          <a:bodyPr wrap="square" rtlCol="0" anchor="ctr"/>
          <a:lstStyle/>
          <a:p>
            <a:pPr indent="0" marL="0">
              <a:buNone/>
            </a:pPr>
            <a:r>
              <a:rPr lang="en-US" sz="1050" dirty="0">
                <a:solidFill>
                  <a:srgbClr val="1E293B"/>
                </a:solidFill>
              </a:rPr>
              <a:t>Uses only 20% labeled data yet achieves Macro F1 = 0.652 — beating every fully-supervised model. (*weighted metrics)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Model B — Distractor Generation Pipeline</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9 / 15</a:t>
            </a:r>
            <a:endParaRPr lang="en-US" sz="800" dirty="0"/>
          </a:p>
        </p:txBody>
      </p:sp>
      <p:sp>
        <p:nvSpPr>
          <p:cNvPr id="7" name="Shape 5"/>
          <p:cNvSpPr/>
          <p:nvPr/>
        </p:nvSpPr>
        <p:spPr>
          <a:xfrm>
            <a:off x="320040" y="886968"/>
            <a:ext cx="2697480" cy="1755648"/>
          </a:xfrm>
          <a:prstGeom prst="rect">
            <a:avLst/>
          </a:prstGeom>
          <a:solidFill>
            <a:srgbClr val="F4F7FB"/>
          </a:solidFill>
          <a:ln w="19050">
            <a:solidFill>
              <a:srgbClr val="0D8A8A"/>
            </a:solidFill>
            <a:prstDash val="solid"/>
          </a:ln>
        </p:spPr>
      </p:sp>
      <p:sp>
        <p:nvSpPr>
          <p:cNvPr id="8" name="Shape 6"/>
          <p:cNvSpPr/>
          <p:nvPr/>
        </p:nvSpPr>
        <p:spPr>
          <a:xfrm>
            <a:off x="320040" y="886968"/>
            <a:ext cx="2697480" cy="420624"/>
          </a:xfrm>
          <a:prstGeom prst="rect">
            <a:avLst/>
          </a:prstGeom>
          <a:solidFill>
            <a:srgbClr val="0D8A8A"/>
          </a:solidFill>
          <a:ln w="12700">
            <a:solidFill>
              <a:srgbClr val="0D8A8A"/>
            </a:solidFill>
            <a:prstDash val="solid"/>
          </a:ln>
        </p:spPr>
      </p:sp>
      <p:sp>
        <p:nvSpPr>
          <p:cNvPr id="9" name="Text 7"/>
          <p:cNvSpPr/>
          <p:nvPr/>
        </p:nvSpPr>
        <p:spPr>
          <a:xfrm>
            <a:off x="320040" y="886968"/>
            <a:ext cx="2697480" cy="420624"/>
          </a:xfrm>
          <a:prstGeom prst="rect">
            <a:avLst/>
          </a:prstGeom>
          <a:noFill/>
          <a:ln/>
        </p:spPr>
        <p:txBody>
          <a:bodyPr wrap="square" lIns="0" tIns="0" rIns="0" bIns="0" rtlCol="0" anchor="ctr"/>
          <a:lstStyle/>
          <a:p>
            <a:pPr algn="ctr" indent="0" marL="0">
              <a:buNone/>
            </a:pPr>
            <a:r>
              <a:rPr lang="en-US" sz="1050" b="1" dirty="0">
                <a:solidFill>
                  <a:srgbClr val="FFFFFF"/>
                </a:solidFill>
              </a:rPr>
              <a:t>Source 1</a:t>
            </a:r>
            <a:endParaRPr lang="en-US" sz="1050" dirty="0"/>
          </a:p>
          <a:p>
            <a:pPr algn="ctr" indent="0" marL="0">
              <a:buNone/>
            </a:pPr>
            <a:r>
              <a:rPr lang="en-US" sz="1050" b="1" dirty="0">
                <a:solidFill>
                  <a:srgbClr val="FFFFFF"/>
                </a:solidFill>
              </a:rPr>
              <a:t>Passage Extraction</a:t>
            </a:r>
            <a:endParaRPr lang="en-US" sz="1050" dirty="0"/>
          </a:p>
        </p:txBody>
      </p:sp>
      <p:sp>
        <p:nvSpPr>
          <p:cNvPr id="10" name="Text 8"/>
          <p:cNvSpPr/>
          <p:nvPr/>
        </p:nvSpPr>
        <p:spPr>
          <a:xfrm>
            <a:off x="411480" y="1371600"/>
            <a:ext cx="2514600" cy="1170432"/>
          </a:xfrm>
          <a:prstGeom prst="rect">
            <a:avLst/>
          </a:prstGeom>
          <a:noFill/>
          <a:ln/>
        </p:spPr>
        <p:txBody>
          <a:bodyPr wrap="square" rtlCol="0" anchor="t"/>
          <a:lstStyle/>
          <a:p>
            <a:pPr indent="0" marL="0">
              <a:buNone/>
            </a:pPr>
            <a:r>
              <a:rPr lang="en-US" sz="1050" dirty="0">
                <a:solidFill>
                  <a:srgbClr val="1E293B"/>
                </a:solidFill>
              </a:rPr>
              <a:t>String matching + frequency-based phrase selection from article. No NLP tools required.</a:t>
            </a:r>
            <a:endParaRPr lang="en-US" sz="1050" dirty="0"/>
          </a:p>
        </p:txBody>
      </p:sp>
      <p:sp>
        <p:nvSpPr>
          <p:cNvPr id="11" name="Shape 9"/>
          <p:cNvSpPr/>
          <p:nvPr/>
        </p:nvSpPr>
        <p:spPr>
          <a:xfrm>
            <a:off x="3172968" y="886968"/>
            <a:ext cx="2697480" cy="1755648"/>
          </a:xfrm>
          <a:prstGeom prst="rect">
            <a:avLst/>
          </a:prstGeom>
          <a:solidFill>
            <a:srgbClr val="F4F7FB"/>
          </a:solidFill>
          <a:ln w="19050">
            <a:solidFill>
              <a:srgbClr val="2563A8"/>
            </a:solidFill>
            <a:prstDash val="solid"/>
          </a:ln>
        </p:spPr>
      </p:sp>
      <p:sp>
        <p:nvSpPr>
          <p:cNvPr id="12" name="Shape 10"/>
          <p:cNvSpPr/>
          <p:nvPr/>
        </p:nvSpPr>
        <p:spPr>
          <a:xfrm>
            <a:off x="3172968" y="886968"/>
            <a:ext cx="2697480" cy="420624"/>
          </a:xfrm>
          <a:prstGeom prst="rect">
            <a:avLst/>
          </a:prstGeom>
          <a:solidFill>
            <a:srgbClr val="2563A8"/>
          </a:solidFill>
          <a:ln w="12700">
            <a:solidFill>
              <a:srgbClr val="2563A8"/>
            </a:solidFill>
            <a:prstDash val="solid"/>
          </a:ln>
        </p:spPr>
      </p:sp>
      <p:sp>
        <p:nvSpPr>
          <p:cNvPr id="13" name="Text 11"/>
          <p:cNvSpPr/>
          <p:nvPr/>
        </p:nvSpPr>
        <p:spPr>
          <a:xfrm>
            <a:off x="3172968" y="886968"/>
            <a:ext cx="2697480" cy="420624"/>
          </a:xfrm>
          <a:prstGeom prst="rect">
            <a:avLst/>
          </a:prstGeom>
          <a:noFill/>
          <a:ln/>
        </p:spPr>
        <p:txBody>
          <a:bodyPr wrap="square" lIns="0" tIns="0" rIns="0" bIns="0" rtlCol="0" anchor="ctr"/>
          <a:lstStyle/>
          <a:p>
            <a:pPr algn="ctr" indent="0" marL="0">
              <a:buNone/>
            </a:pPr>
            <a:r>
              <a:rPr lang="en-US" sz="1050" b="1" dirty="0">
                <a:solidFill>
                  <a:srgbClr val="FFFFFF"/>
                </a:solidFill>
              </a:rPr>
              <a:t>Source 2</a:t>
            </a:r>
            <a:endParaRPr lang="en-US" sz="1050" dirty="0"/>
          </a:p>
          <a:p>
            <a:pPr algn="ctr" indent="0" marL="0">
              <a:buNone/>
            </a:pPr>
            <a:r>
              <a:rPr lang="en-US" sz="1050" b="1" dirty="0">
                <a:solidFill>
                  <a:srgbClr val="FFFFFF"/>
                </a:solidFill>
              </a:rPr>
              <a:t>OHE Cosine Ranking</a:t>
            </a:r>
            <a:endParaRPr lang="en-US" sz="1050" dirty="0"/>
          </a:p>
        </p:txBody>
      </p:sp>
      <p:sp>
        <p:nvSpPr>
          <p:cNvPr id="14" name="Text 12"/>
          <p:cNvSpPr/>
          <p:nvPr/>
        </p:nvSpPr>
        <p:spPr>
          <a:xfrm>
            <a:off x="3264408" y="1371600"/>
            <a:ext cx="2514600" cy="1170432"/>
          </a:xfrm>
          <a:prstGeom prst="rect">
            <a:avLst/>
          </a:prstGeom>
          <a:noFill/>
          <a:ln/>
        </p:spPr>
        <p:txBody>
          <a:bodyPr wrap="square" rtlCol="0" anchor="t"/>
          <a:lstStyle/>
          <a:p>
            <a:pPr indent="0" marL="0">
              <a:buNone/>
            </a:pPr>
            <a:r>
              <a:rPr lang="en-US" sz="1050" dirty="0">
                <a:solidFill>
                  <a:srgbClr val="1E293B"/>
                </a:solidFill>
              </a:rPr>
              <a:t>Binary vocab vectors · cosine similarity to correct answer · low-similarity high-frequency → distractor.</a:t>
            </a:r>
            <a:endParaRPr lang="en-US" sz="1050" dirty="0"/>
          </a:p>
        </p:txBody>
      </p:sp>
      <p:sp>
        <p:nvSpPr>
          <p:cNvPr id="15" name="Shape 13"/>
          <p:cNvSpPr/>
          <p:nvPr/>
        </p:nvSpPr>
        <p:spPr>
          <a:xfrm>
            <a:off x="6025896" y="886968"/>
            <a:ext cx="2697480" cy="1755648"/>
          </a:xfrm>
          <a:prstGeom prst="rect">
            <a:avLst/>
          </a:prstGeom>
          <a:solidFill>
            <a:srgbClr val="F4F7FB"/>
          </a:solidFill>
          <a:ln w="19050">
            <a:solidFill>
              <a:srgbClr val="1A2B4A"/>
            </a:solidFill>
            <a:prstDash val="solid"/>
          </a:ln>
        </p:spPr>
      </p:sp>
      <p:sp>
        <p:nvSpPr>
          <p:cNvPr id="16" name="Shape 14"/>
          <p:cNvSpPr/>
          <p:nvPr/>
        </p:nvSpPr>
        <p:spPr>
          <a:xfrm>
            <a:off x="6025896" y="886968"/>
            <a:ext cx="2697480" cy="420624"/>
          </a:xfrm>
          <a:prstGeom prst="rect">
            <a:avLst/>
          </a:prstGeom>
          <a:solidFill>
            <a:srgbClr val="1A2B4A"/>
          </a:solidFill>
          <a:ln w="12700">
            <a:solidFill>
              <a:srgbClr val="1A2B4A"/>
            </a:solidFill>
            <a:prstDash val="solid"/>
          </a:ln>
        </p:spPr>
      </p:sp>
      <p:sp>
        <p:nvSpPr>
          <p:cNvPr id="17" name="Text 15"/>
          <p:cNvSpPr/>
          <p:nvPr/>
        </p:nvSpPr>
        <p:spPr>
          <a:xfrm>
            <a:off x="6025896" y="886968"/>
            <a:ext cx="2697480" cy="420624"/>
          </a:xfrm>
          <a:prstGeom prst="rect">
            <a:avLst/>
          </a:prstGeom>
          <a:noFill/>
          <a:ln/>
        </p:spPr>
        <p:txBody>
          <a:bodyPr wrap="square" lIns="0" tIns="0" rIns="0" bIns="0" rtlCol="0" anchor="ctr"/>
          <a:lstStyle/>
          <a:p>
            <a:pPr algn="ctr" indent="0" marL="0">
              <a:buNone/>
            </a:pPr>
            <a:r>
              <a:rPr lang="en-US" sz="1050" b="1" dirty="0">
                <a:solidFill>
                  <a:srgbClr val="FFFFFF"/>
                </a:solidFill>
              </a:rPr>
              <a:t>Source 3</a:t>
            </a:r>
            <a:endParaRPr lang="en-US" sz="1050" dirty="0"/>
          </a:p>
          <a:p>
            <a:pPr algn="ctr" indent="0" marL="0">
              <a:buNone/>
            </a:pPr>
            <a:r>
              <a:rPr lang="en-US" sz="1050" b="1" dirty="0">
                <a:solidFill>
                  <a:srgbClr val="FFFFFF"/>
                </a:solidFill>
              </a:rPr>
              <a:t>Word2Vec (300-d)</a:t>
            </a:r>
            <a:endParaRPr lang="en-US" sz="1050" dirty="0"/>
          </a:p>
        </p:txBody>
      </p:sp>
      <p:sp>
        <p:nvSpPr>
          <p:cNvPr id="18" name="Text 16"/>
          <p:cNvSpPr/>
          <p:nvPr/>
        </p:nvSpPr>
        <p:spPr>
          <a:xfrm>
            <a:off x="6117336" y="1371600"/>
            <a:ext cx="2514600" cy="1170432"/>
          </a:xfrm>
          <a:prstGeom prst="rect">
            <a:avLst/>
          </a:prstGeom>
          <a:noFill/>
          <a:ln/>
        </p:spPr>
        <p:txBody>
          <a:bodyPr wrap="square" rtlCol="0" anchor="t"/>
          <a:lstStyle/>
          <a:p>
            <a:pPr indent="0" marL="0">
              <a:buNone/>
            </a:pPr>
            <a:r>
              <a:rPr lang="en-US" sz="1050" dirty="0">
                <a:solidFill>
                  <a:srgbClr val="1E293B"/>
                </a:solidFill>
              </a:rPr>
              <a:t>Pre-trained Google News embeddings. Semantic nearest-neighbours outside the passage vocabulary.</a:t>
            </a:r>
            <a:endParaRPr lang="en-US" sz="1050" dirty="0"/>
          </a:p>
        </p:txBody>
      </p:sp>
      <p:sp>
        <p:nvSpPr>
          <p:cNvPr id="19" name="Text 17"/>
          <p:cNvSpPr/>
          <p:nvPr/>
        </p:nvSpPr>
        <p:spPr>
          <a:xfrm>
            <a:off x="4114800" y="2724912"/>
            <a:ext cx="914400" cy="365760"/>
          </a:xfrm>
          <a:prstGeom prst="rect">
            <a:avLst/>
          </a:prstGeom>
          <a:noFill/>
          <a:ln/>
        </p:spPr>
        <p:txBody>
          <a:bodyPr wrap="square" lIns="0" tIns="0" rIns="0" bIns="0" rtlCol="0" anchor="ctr"/>
          <a:lstStyle/>
          <a:p>
            <a:pPr algn="ctr" indent="0" marL="0">
              <a:buNone/>
            </a:pPr>
            <a:r>
              <a:rPr lang="en-US" sz="2200" dirty="0">
                <a:solidFill>
                  <a:srgbClr val="64748B"/>
                </a:solidFill>
              </a:rPr>
              <a:t>↓</a:t>
            </a:r>
            <a:endParaRPr lang="en-US" sz="2200" dirty="0"/>
          </a:p>
        </p:txBody>
      </p:sp>
      <p:sp>
        <p:nvSpPr>
          <p:cNvPr id="20" name="Text 18"/>
          <p:cNvSpPr/>
          <p:nvPr/>
        </p:nvSpPr>
        <p:spPr>
          <a:xfrm>
            <a:off x="1828800" y="3090672"/>
            <a:ext cx="5486400" cy="274320"/>
          </a:xfrm>
          <a:prstGeom prst="rect">
            <a:avLst/>
          </a:prstGeom>
          <a:noFill/>
          <a:ln/>
        </p:spPr>
        <p:txBody>
          <a:bodyPr wrap="square" rtlCol="0" anchor="ctr"/>
          <a:lstStyle/>
          <a:p>
            <a:pPr algn="ctr" indent="0" marL="0">
              <a:buNone/>
            </a:pPr>
            <a:r>
              <a:rPr lang="en-US" sz="1200" b="1" dirty="0">
                <a:solidFill>
                  <a:srgbClr val="2563A8"/>
                </a:solidFill>
              </a:rPr>
              <a:t>ML Ranker — 8 Features</a:t>
            </a:r>
            <a:endParaRPr lang="en-US" sz="1200" dirty="0"/>
          </a:p>
        </p:txBody>
      </p:sp>
      <p:sp>
        <p:nvSpPr>
          <p:cNvPr id="21" name="Shape 19"/>
          <p:cNvSpPr/>
          <p:nvPr/>
        </p:nvSpPr>
        <p:spPr>
          <a:xfrm>
            <a:off x="320040" y="3419856"/>
            <a:ext cx="2011680" cy="365760"/>
          </a:xfrm>
          <a:prstGeom prst="rect">
            <a:avLst/>
          </a:prstGeom>
          <a:solidFill>
            <a:srgbClr val="2563A8"/>
          </a:solidFill>
          <a:ln w="12700">
            <a:solidFill>
              <a:srgbClr val="2563A8"/>
            </a:solidFill>
            <a:prstDash val="solid"/>
          </a:ln>
        </p:spPr>
      </p:sp>
      <p:sp>
        <p:nvSpPr>
          <p:cNvPr id="22" name="Text 20"/>
          <p:cNvSpPr/>
          <p:nvPr/>
        </p:nvSpPr>
        <p:spPr>
          <a:xfrm>
            <a:off x="320040" y="3419856"/>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OHE Cosine Sim</a:t>
            </a:r>
            <a:endParaRPr lang="en-US" sz="1000" dirty="0"/>
          </a:p>
        </p:txBody>
      </p:sp>
      <p:sp>
        <p:nvSpPr>
          <p:cNvPr id="23" name="Shape 21"/>
          <p:cNvSpPr/>
          <p:nvPr/>
        </p:nvSpPr>
        <p:spPr>
          <a:xfrm>
            <a:off x="2468880" y="3419856"/>
            <a:ext cx="2011680" cy="365760"/>
          </a:xfrm>
          <a:prstGeom prst="rect">
            <a:avLst/>
          </a:prstGeom>
          <a:solidFill>
            <a:srgbClr val="1A2B4A"/>
          </a:solidFill>
          <a:ln w="12700">
            <a:solidFill>
              <a:srgbClr val="1A2B4A"/>
            </a:solidFill>
            <a:prstDash val="solid"/>
          </a:ln>
        </p:spPr>
      </p:sp>
      <p:sp>
        <p:nvSpPr>
          <p:cNvPr id="24" name="Text 22"/>
          <p:cNvSpPr/>
          <p:nvPr/>
        </p:nvSpPr>
        <p:spPr>
          <a:xfrm>
            <a:off x="2468880" y="3419856"/>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TF-IDF Cosine Sim</a:t>
            </a:r>
            <a:endParaRPr lang="en-US" sz="1000" dirty="0"/>
          </a:p>
        </p:txBody>
      </p:sp>
      <p:sp>
        <p:nvSpPr>
          <p:cNvPr id="25" name="Shape 23"/>
          <p:cNvSpPr/>
          <p:nvPr/>
        </p:nvSpPr>
        <p:spPr>
          <a:xfrm>
            <a:off x="4617720" y="3419856"/>
            <a:ext cx="2011680" cy="365760"/>
          </a:xfrm>
          <a:prstGeom prst="rect">
            <a:avLst/>
          </a:prstGeom>
          <a:solidFill>
            <a:srgbClr val="0D8A8A"/>
          </a:solidFill>
          <a:ln w="12700">
            <a:solidFill>
              <a:srgbClr val="0D8A8A"/>
            </a:solidFill>
            <a:prstDash val="solid"/>
          </a:ln>
        </p:spPr>
      </p:sp>
      <p:sp>
        <p:nvSpPr>
          <p:cNvPr id="26" name="Text 24"/>
          <p:cNvSpPr/>
          <p:nvPr/>
        </p:nvSpPr>
        <p:spPr>
          <a:xfrm>
            <a:off x="4617720" y="3419856"/>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Char Overlap</a:t>
            </a:r>
            <a:endParaRPr lang="en-US" sz="1000" dirty="0"/>
          </a:p>
        </p:txBody>
      </p:sp>
      <p:sp>
        <p:nvSpPr>
          <p:cNvPr id="27" name="Shape 25"/>
          <p:cNvSpPr/>
          <p:nvPr/>
        </p:nvSpPr>
        <p:spPr>
          <a:xfrm>
            <a:off x="6766560" y="3419856"/>
            <a:ext cx="2011680" cy="365760"/>
          </a:xfrm>
          <a:prstGeom prst="rect">
            <a:avLst/>
          </a:prstGeom>
          <a:solidFill>
            <a:srgbClr val="1E5B8A"/>
          </a:solidFill>
          <a:ln w="12700">
            <a:solidFill>
              <a:srgbClr val="1E5B8A"/>
            </a:solidFill>
            <a:prstDash val="solid"/>
          </a:ln>
        </p:spPr>
      </p:sp>
      <p:sp>
        <p:nvSpPr>
          <p:cNvPr id="28" name="Text 26"/>
          <p:cNvSpPr/>
          <p:nvPr/>
        </p:nvSpPr>
        <p:spPr>
          <a:xfrm>
            <a:off x="6766560" y="3419856"/>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Passage Freq</a:t>
            </a:r>
            <a:endParaRPr lang="en-US" sz="1000" dirty="0"/>
          </a:p>
        </p:txBody>
      </p:sp>
      <p:sp>
        <p:nvSpPr>
          <p:cNvPr id="29" name="Shape 27"/>
          <p:cNvSpPr/>
          <p:nvPr/>
        </p:nvSpPr>
        <p:spPr>
          <a:xfrm>
            <a:off x="320040" y="3895344"/>
            <a:ext cx="2011680" cy="365760"/>
          </a:xfrm>
          <a:prstGeom prst="rect">
            <a:avLst/>
          </a:prstGeom>
          <a:solidFill>
            <a:srgbClr val="2563A8"/>
          </a:solidFill>
          <a:ln w="12700">
            <a:solidFill>
              <a:srgbClr val="2563A8"/>
            </a:solidFill>
            <a:prstDash val="solid"/>
          </a:ln>
        </p:spPr>
      </p:sp>
      <p:sp>
        <p:nvSpPr>
          <p:cNvPr id="30" name="Text 28"/>
          <p:cNvSpPr/>
          <p:nvPr/>
        </p:nvSpPr>
        <p:spPr>
          <a:xfrm>
            <a:off x="320040" y="3895344"/>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Length Ratio</a:t>
            </a:r>
            <a:endParaRPr lang="en-US" sz="1000" dirty="0"/>
          </a:p>
        </p:txBody>
      </p:sp>
      <p:sp>
        <p:nvSpPr>
          <p:cNvPr id="31" name="Shape 29"/>
          <p:cNvSpPr/>
          <p:nvPr/>
        </p:nvSpPr>
        <p:spPr>
          <a:xfrm>
            <a:off x="2468880" y="3895344"/>
            <a:ext cx="2011680" cy="365760"/>
          </a:xfrm>
          <a:prstGeom prst="rect">
            <a:avLst/>
          </a:prstGeom>
          <a:solidFill>
            <a:srgbClr val="1A2B4A"/>
          </a:solidFill>
          <a:ln w="12700">
            <a:solidFill>
              <a:srgbClr val="1A2B4A"/>
            </a:solidFill>
            <a:prstDash val="solid"/>
          </a:ln>
        </p:spPr>
      </p:sp>
      <p:sp>
        <p:nvSpPr>
          <p:cNvPr id="32" name="Text 30"/>
          <p:cNvSpPr/>
          <p:nvPr/>
        </p:nvSpPr>
        <p:spPr>
          <a:xfrm>
            <a:off x="2468880" y="3895344"/>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Substring Flag</a:t>
            </a:r>
            <a:endParaRPr lang="en-US" sz="1000" dirty="0"/>
          </a:p>
        </p:txBody>
      </p:sp>
      <p:sp>
        <p:nvSpPr>
          <p:cNvPr id="33" name="Shape 31"/>
          <p:cNvSpPr/>
          <p:nvPr/>
        </p:nvSpPr>
        <p:spPr>
          <a:xfrm>
            <a:off x="4617720" y="3895344"/>
            <a:ext cx="2011680" cy="365760"/>
          </a:xfrm>
          <a:prstGeom prst="rect">
            <a:avLst/>
          </a:prstGeom>
          <a:solidFill>
            <a:srgbClr val="0D8A8A"/>
          </a:solidFill>
          <a:ln w="12700">
            <a:solidFill>
              <a:srgbClr val="0D8A8A"/>
            </a:solidFill>
            <a:prstDash val="solid"/>
          </a:ln>
        </p:spPr>
      </p:sp>
      <p:sp>
        <p:nvSpPr>
          <p:cNvPr id="34" name="Text 32"/>
          <p:cNvSpPr/>
          <p:nvPr/>
        </p:nvSpPr>
        <p:spPr>
          <a:xfrm>
            <a:off x="4617720" y="3895344"/>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Length Norm</a:t>
            </a:r>
            <a:endParaRPr lang="en-US" sz="1000" dirty="0"/>
          </a:p>
        </p:txBody>
      </p:sp>
      <p:sp>
        <p:nvSpPr>
          <p:cNvPr id="35" name="Shape 33"/>
          <p:cNvSpPr/>
          <p:nvPr/>
        </p:nvSpPr>
        <p:spPr>
          <a:xfrm>
            <a:off x="6766560" y="3895344"/>
            <a:ext cx="2011680" cy="365760"/>
          </a:xfrm>
          <a:prstGeom prst="rect">
            <a:avLst/>
          </a:prstGeom>
          <a:solidFill>
            <a:srgbClr val="1E5B8A"/>
          </a:solidFill>
          <a:ln w="12700">
            <a:solidFill>
              <a:srgbClr val="1E5B8A"/>
            </a:solidFill>
            <a:prstDash val="solid"/>
          </a:ln>
        </p:spPr>
      </p:sp>
      <p:sp>
        <p:nvSpPr>
          <p:cNvPr id="36" name="Text 34"/>
          <p:cNvSpPr/>
          <p:nvPr/>
        </p:nvSpPr>
        <p:spPr>
          <a:xfrm>
            <a:off x="6766560" y="3895344"/>
            <a:ext cx="2011680" cy="365760"/>
          </a:xfrm>
          <a:prstGeom prst="rect">
            <a:avLst/>
          </a:prstGeom>
          <a:noFill/>
          <a:ln/>
        </p:spPr>
        <p:txBody>
          <a:bodyPr wrap="square" lIns="0" tIns="0" rIns="0" bIns="0" rtlCol="0" anchor="ctr"/>
          <a:lstStyle/>
          <a:p>
            <a:pPr algn="ctr" indent="0" marL="0">
              <a:buNone/>
            </a:pPr>
            <a:r>
              <a:rPr lang="en-US" sz="1000" dirty="0">
                <a:solidFill>
                  <a:srgbClr val="FFFFFF"/>
                </a:solidFill>
              </a:rPr>
              <a:t>TF-IDF vs Article</a:t>
            </a:r>
            <a:endParaRPr lang="en-US" sz="1000" dirty="0"/>
          </a:p>
        </p:txBody>
      </p:sp>
      <p:sp>
        <p:nvSpPr>
          <p:cNvPr id="37" name="Shape 35"/>
          <p:cNvSpPr/>
          <p:nvPr/>
        </p:nvSpPr>
        <p:spPr>
          <a:xfrm>
            <a:off x="6263640" y="3090672"/>
            <a:ext cx="2560320" cy="1645920"/>
          </a:xfrm>
          <a:prstGeom prst="rect">
            <a:avLst/>
          </a:prstGeom>
          <a:solidFill>
            <a:srgbClr val="ECFDF5"/>
          </a:solidFill>
          <a:ln w="12700">
            <a:solidFill>
              <a:srgbClr val="059669"/>
            </a:solidFill>
            <a:prstDash val="solid"/>
          </a:ln>
        </p:spPr>
      </p:sp>
      <p:sp>
        <p:nvSpPr>
          <p:cNvPr id="38" name="Text 36"/>
          <p:cNvSpPr/>
          <p:nvPr/>
        </p:nvSpPr>
        <p:spPr>
          <a:xfrm>
            <a:off x="6263640" y="3136392"/>
            <a:ext cx="2514600" cy="1554480"/>
          </a:xfrm>
          <a:prstGeom prst="rect">
            <a:avLst/>
          </a:prstGeom>
          <a:noFill/>
          <a:ln/>
        </p:spPr>
        <p:txBody>
          <a:bodyPr wrap="square" rtlCol="0" anchor="ctr"/>
          <a:lstStyle/>
          <a:p>
            <a:pPr algn="ctr" indent="0" marL="0">
              <a:buNone/>
            </a:pPr>
            <a:r>
              <a:rPr lang="en-US" sz="1050" dirty="0">
                <a:solidFill>
                  <a:srgbClr val="1E293B"/>
                </a:solidFill>
              </a:rPr>
              <a:t>RF  98.61% Acc · F1 0.9303</a:t>
            </a:r>
            <a:endParaRPr lang="en-US" sz="1050" dirty="0"/>
          </a:p>
          <a:p>
            <a:pPr algn="ctr" indent="0" marL="0">
              <a:buNone/>
            </a:pPr>
            <a:r>
              <a:rPr lang="en-US" sz="1050" dirty="0">
                <a:solidFill>
                  <a:srgbClr val="1E293B"/>
                </a:solidFill>
              </a:rPr>
              <a:t>LR  98.25% Acc · F1 0.9071</a:t>
            </a:r>
            <a:endParaRPr lang="en-US" sz="1050" dirty="0"/>
          </a:p>
          <a:p>
            <a:pPr algn="ctr" indent="0" marL="0">
              <a:buNone/>
            </a:pPr>
            <a:endParaRPr lang="en-US" sz="1050" dirty="0"/>
          </a:p>
          <a:p>
            <a:pPr algn="ctr" indent="0" marL="0">
              <a:buNone/>
            </a:pPr>
            <a:r>
              <a:rPr lang="en-US" sz="1050" dirty="0">
                <a:solidFill>
                  <a:srgbClr val="1E293B"/>
                </a:solidFill>
              </a:rPr>
              <a:t>RF selected as PRIMARY</a:t>
            </a:r>
            <a:endParaRPr lang="en-US" sz="1050" dirty="0"/>
          </a:p>
          <a:p>
            <a:pPr algn="ctr" indent="0" marL="0">
              <a:buNone/>
            </a:pPr>
            <a:r>
              <a:rPr lang="en-US" sz="1050" dirty="0">
                <a:solidFill>
                  <a:srgbClr val="1E293B"/>
                </a:solidFill>
              </a:rPr>
              <a:t>Diversity penalty applied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Model B — Hint Generation &amp; Evaluation Results</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10 / 15</a:t>
            </a:r>
            <a:endParaRPr lang="en-US" sz="800" dirty="0"/>
          </a:p>
        </p:txBody>
      </p:sp>
      <p:sp>
        <p:nvSpPr>
          <p:cNvPr id="7" name="Text 5"/>
          <p:cNvSpPr/>
          <p:nvPr/>
        </p:nvSpPr>
        <p:spPr>
          <a:xfrm>
            <a:off x="320040" y="914400"/>
            <a:ext cx="4206240" cy="292608"/>
          </a:xfrm>
          <a:prstGeom prst="rect">
            <a:avLst/>
          </a:prstGeom>
          <a:noFill/>
          <a:ln/>
        </p:spPr>
        <p:txBody>
          <a:bodyPr wrap="square" rtlCol="0" anchor="ctr"/>
          <a:lstStyle/>
          <a:p>
            <a:pPr indent="0" marL="0">
              <a:buNone/>
            </a:pPr>
            <a:r>
              <a:rPr lang="en-US" sz="1300" b="1" dirty="0">
                <a:solidFill>
                  <a:srgbClr val="2563A8"/>
                </a:solidFill>
              </a:rPr>
              <a:t>Hint Scoring Pipeline</a:t>
            </a:r>
            <a:endParaRPr lang="en-US" sz="1300" dirty="0"/>
          </a:p>
        </p:txBody>
      </p:sp>
      <p:sp>
        <p:nvSpPr>
          <p:cNvPr id="8" name="Shape 6"/>
          <p:cNvSpPr/>
          <p:nvPr/>
        </p:nvSpPr>
        <p:spPr>
          <a:xfrm>
            <a:off x="320040" y="1261872"/>
            <a:ext cx="548640" cy="384048"/>
          </a:xfrm>
          <a:prstGeom prst="rect">
            <a:avLst/>
          </a:prstGeom>
          <a:solidFill>
            <a:srgbClr val="0D8A8A"/>
          </a:solidFill>
          <a:ln w="12700">
            <a:solidFill>
              <a:srgbClr val="0D8A8A"/>
            </a:solidFill>
            <a:prstDash val="solid"/>
          </a:ln>
        </p:spPr>
      </p:sp>
      <p:sp>
        <p:nvSpPr>
          <p:cNvPr id="9" name="Text 7"/>
          <p:cNvSpPr/>
          <p:nvPr/>
        </p:nvSpPr>
        <p:spPr>
          <a:xfrm>
            <a:off x="320040" y="1261872"/>
            <a:ext cx="548640" cy="384048"/>
          </a:xfrm>
          <a:prstGeom prst="rect">
            <a:avLst/>
          </a:prstGeom>
          <a:noFill/>
          <a:ln/>
        </p:spPr>
        <p:txBody>
          <a:bodyPr wrap="square" lIns="0" tIns="0" rIns="0" bIns="0" rtlCol="0" anchor="ctr"/>
          <a:lstStyle/>
          <a:p>
            <a:pPr algn="ctr" indent="0" marL="0">
              <a:buNone/>
            </a:pPr>
            <a:r>
              <a:rPr lang="en-US" sz="950" b="1" dirty="0">
                <a:solidFill>
                  <a:srgbClr val="FFFFFF"/>
                </a:solidFill>
              </a:rPr>
              <a:t>f0</a:t>
            </a:r>
            <a:endParaRPr lang="en-US" sz="950" dirty="0"/>
          </a:p>
        </p:txBody>
      </p:sp>
      <p:sp>
        <p:nvSpPr>
          <p:cNvPr id="10" name="Shape 8"/>
          <p:cNvSpPr/>
          <p:nvPr/>
        </p:nvSpPr>
        <p:spPr>
          <a:xfrm>
            <a:off x="886968" y="1261872"/>
            <a:ext cx="3429000" cy="384048"/>
          </a:xfrm>
          <a:prstGeom prst="rect">
            <a:avLst/>
          </a:prstGeom>
          <a:solidFill>
            <a:srgbClr val="F4F7FB"/>
          </a:solidFill>
          <a:ln w="9525">
            <a:solidFill>
              <a:srgbClr val="E8EDF5"/>
            </a:solidFill>
            <a:prstDash val="solid"/>
          </a:ln>
        </p:spPr>
      </p:sp>
      <p:sp>
        <p:nvSpPr>
          <p:cNvPr id="11" name="Text 9"/>
          <p:cNvSpPr/>
          <p:nvPr/>
        </p:nvSpPr>
        <p:spPr>
          <a:xfrm>
            <a:off x="960120" y="1261872"/>
            <a:ext cx="3291840" cy="384048"/>
          </a:xfrm>
          <a:prstGeom prst="rect">
            <a:avLst/>
          </a:prstGeom>
          <a:noFill/>
          <a:ln/>
        </p:spPr>
        <p:txBody>
          <a:bodyPr wrap="square" lIns="0" tIns="0" rIns="0" bIns="0" rtlCol="0" anchor="ctr"/>
          <a:lstStyle/>
          <a:p>
            <a:pPr indent="0" marL="0">
              <a:buNone/>
            </a:pPr>
            <a:r>
              <a:rPr lang="en-US" sz="1050" dirty="0">
                <a:solidFill>
                  <a:srgbClr val="1E293B"/>
                </a:solidFill>
              </a:rPr>
              <a:t>Keyword overlap (sentence ∩ question)</a:t>
            </a:r>
            <a:endParaRPr lang="en-US" sz="1050" dirty="0"/>
          </a:p>
        </p:txBody>
      </p:sp>
      <p:sp>
        <p:nvSpPr>
          <p:cNvPr id="12" name="Shape 10"/>
          <p:cNvSpPr/>
          <p:nvPr/>
        </p:nvSpPr>
        <p:spPr>
          <a:xfrm>
            <a:off x="320040" y="1755648"/>
            <a:ext cx="548640" cy="384048"/>
          </a:xfrm>
          <a:prstGeom prst="rect">
            <a:avLst/>
          </a:prstGeom>
          <a:solidFill>
            <a:srgbClr val="2563A8"/>
          </a:solidFill>
          <a:ln w="12700">
            <a:solidFill>
              <a:srgbClr val="2563A8"/>
            </a:solidFill>
            <a:prstDash val="solid"/>
          </a:ln>
        </p:spPr>
      </p:sp>
      <p:sp>
        <p:nvSpPr>
          <p:cNvPr id="13" name="Text 11"/>
          <p:cNvSpPr/>
          <p:nvPr/>
        </p:nvSpPr>
        <p:spPr>
          <a:xfrm>
            <a:off x="320040" y="1755648"/>
            <a:ext cx="548640" cy="384048"/>
          </a:xfrm>
          <a:prstGeom prst="rect">
            <a:avLst/>
          </a:prstGeom>
          <a:noFill/>
          <a:ln/>
        </p:spPr>
        <p:txBody>
          <a:bodyPr wrap="square" lIns="0" tIns="0" rIns="0" bIns="0" rtlCol="0" anchor="ctr"/>
          <a:lstStyle/>
          <a:p>
            <a:pPr algn="ctr" indent="0" marL="0">
              <a:buNone/>
            </a:pPr>
            <a:r>
              <a:rPr lang="en-US" sz="950" b="1" dirty="0">
                <a:solidFill>
                  <a:srgbClr val="FFFFFF"/>
                </a:solidFill>
              </a:rPr>
              <a:t>f1</a:t>
            </a:r>
            <a:endParaRPr lang="en-US" sz="950" dirty="0"/>
          </a:p>
        </p:txBody>
      </p:sp>
      <p:sp>
        <p:nvSpPr>
          <p:cNvPr id="14" name="Shape 12"/>
          <p:cNvSpPr/>
          <p:nvPr/>
        </p:nvSpPr>
        <p:spPr>
          <a:xfrm>
            <a:off x="886968" y="1755648"/>
            <a:ext cx="3429000" cy="384048"/>
          </a:xfrm>
          <a:prstGeom prst="rect">
            <a:avLst/>
          </a:prstGeom>
          <a:solidFill>
            <a:srgbClr val="F4F7FB"/>
          </a:solidFill>
          <a:ln w="9525">
            <a:solidFill>
              <a:srgbClr val="E8EDF5"/>
            </a:solidFill>
            <a:prstDash val="solid"/>
          </a:ln>
        </p:spPr>
      </p:sp>
      <p:sp>
        <p:nvSpPr>
          <p:cNvPr id="15" name="Text 13"/>
          <p:cNvSpPr/>
          <p:nvPr/>
        </p:nvSpPr>
        <p:spPr>
          <a:xfrm>
            <a:off x="960120" y="1755648"/>
            <a:ext cx="3291840" cy="384048"/>
          </a:xfrm>
          <a:prstGeom prst="rect">
            <a:avLst/>
          </a:prstGeom>
          <a:noFill/>
          <a:ln/>
        </p:spPr>
        <p:txBody>
          <a:bodyPr wrap="square" lIns="0" tIns="0" rIns="0" bIns="0" rtlCol="0" anchor="ctr"/>
          <a:lstStyle/>
          <a:p>
            <a:pPr indent="0" marL="0">
              <a:buNone/>
            </a:pPr>
            <a:r>
              <a:rPr lang="en-US" sz="1050" dirty="0">
                <a:solidFill>
                  <a:srgbClr val="1E293B"/>
                </a:solidFill>
              </a:rPr>
              <a:t>Answer overlap (sentence ∩ answer)</a:t>
            </a:r>
            <a:endParaRPr lang="en-US" sz="1050" dirty="0"/>
          </a:p>
        </p:txBody>
      </p:sp>
      <p:sp>
        <p:nvSpPr>
          <p:cNvPr id="16" name="Shape 14"/>
          <p:cNvSpPr/>
          <p:nvPr/>
        </p:nvSpPr>
        <p:spPr>
          <a:xfrm>
            <a:off x="320040" y="2249424"/>
            <a:ext cx="548640" cy="384048"/>
          </a:xfrm>
          <a:prstGeom prst="rect">
            <a:avLst/>
          </a:prstGeom>
          <a:solidFill>
            <a:srgbClr val="1A2B4A"/>
          </a:solidFill>
          <a:ln w="12700">
            <a:solidFill>
              <a:srgbClr val="1A2B4A"/>
            </a:solidFill>
            <a:prstDash val="solid"/>
          </a:ln>
        </p:spPr>
      </p:sp>
      <p:sp>
        <p:nvSpPr>
          <p:cNvPr id="17" name="Text 15"/>
          <p:cNvSpPr/>
          <p:nvPr/>
        </p:nvSpPr>
        <p:spPr>
          <a:xfrm>
            <a:off x="320040" y="2249424"/>
            <a:ext cx="548640" cy="384048"/>
          </a:xfrm>
          <a:prstGeom prst="rect">
            <a:avLst/>
          </a:prstGeom>
          <a:noFill/>
          <a:ln/>
        </p:spPr>
        <p:txBody>
          <a:bodyPr wrap="square" lIns="0" tIns="0" rIns="0" bIns="0" rtlCol="0" anchor="ctr"/>
          <a:lstStyle/>
          <a:p>
            <a:pPr algn="ctr" indent="0" marL="0">
              <a:buNone/>
            </a:pPr>
            <a:r>
              <a:rPr lang="en-US" sz="950" b="1" dirty="0">
                <a:solidFill>
                  <a:srgbClr val="FFFFFF"/>
                </a:solidFill>
              </a:rPr>
              <a:t>f2</a:t>
            </a:r>
            <a:endParaRPr lang="en-US" sz="950" dirty="0"/>
          </a:p>
        </p:txBody>
      </p:sp>
      <p:sp>
        <p:nvSpPr>
          <p:cNvPr id="18" name="Shape 16"/>
          <p:cNvSpPr/>
          <p:nvPr/>
        </p:nvSpPr>
        <p:spPr>
          <a:xfrm>
            <a:off x="886968" y="2249424"/>
            <a:ext cx="3429000" cy="384048"/>
          </a:xfrm>
          <a:prstGeom prst="rect">
            <a:avLst/>
          </a:prstGeom>
          <a:solidFill>
            <a:srgbClr val="F4F7FB"/>
          </a:solidFill>
          <a:ln w="9525">
            <a:solidFill>
              <a:srgbClr val="E8EDF5"/>
            </a:solidFill>
            <a:prstDash val="solid"/>
          </a:ln>
        </p:spPr>
      </p:sp>
      <p:sp>
        <p:nvSpPr>
          <p:cNvPr id="19" name="Text 17"/>
          <p:cNvSpPr/>
          <p:nvPr/>
        </p:nvSpPr>
        <p:spPr>
          <a:xfrm>
            <a:off x="960120" y="2249424"/>
            <a:ext cx="3291840" cy="384048"/>
          </a:xfrm>
          <a:prstGeom prst="rect">
            <a:avLst/>
          </a:prstGeom>
          <a:noFill/>
          <a:ln/>
        </p:spPr>
        <p:txBody>
          <a:bodyPr wrap="square" lIns="0" tIns="0" rIns="0" bIns="0" rtlCol="0" anchor="ctr"/>
          <a:lstStyle/>
          <a:p>
            <a:pPr indent="0" marL="0">
              <a:buNone/>
            </a:pPr>
            <a:r>
              <a:rPr lang="en-US" sz="1050" dirty="0">
                <a:solidFill>
                  <a:srgbClr val="1E293B"/>
                </a:solidFill>
              </a:rPr>
              <a:t>Position in passage</a:t>
            </a:r>
            <a:endParaRPr lang="en-US" sz="1050" dirty="0"/>
          </a:p>
        </p:txBody>
      </p:sp>
      <p:sp>
        <p:nvSpPr>
          <p:cNvPr id="20" name="Shape 18"/>
          <p:cNvSpPr/>
          <p:nvPr/>
        </p:nvSpPr>
        <p:spPr>
          <a:xfrm>
            <a:off x="320040" y="2743200"/>
            <a:ext cx="548640" cy="384048"/>
          </a:xfrm>
          <a:prstGeom prst="rect">
            <a:avLst/>
          </a:prstGeom>
          <a:solidFill>
            <a:srgbClr val="1E5B8A"/>
          </a:solidFill>
          <a:ln w="12700">
            <a:solidFill>
              <a:srgbClr val="1E5B8A"/>
            </a:solidFill>
            <a:prstDash val="solid"/>
          </a:ln>
        </p:spPr>
      </p:sp>
      <p:sp>
        <p:nvSpPr>
          <p:cNvPr id="21" name="Text 19"/>
          <p:cNvSpPr/>
          <p:nvPr/>
        </p:nvSpPr>
        <p:spPr>
          <a:xfrm>
            <a:off x="320040" y="2743200"/>
            <a:ext cx="548640" cy="384048"/>
          </a:xfrm>
          <a:prstGeom prst="rect">
            <a:avLst/>
          </a:prstGeom>
          <a:noFill/>
          <a:ln/>
        </p:spPr>
        <p:txBody>
          <a:bodyPr wrap="square" lIns="0" tIns="0" rIns="0" bIns="0" rtlCol="0" anchor="ctr"/>
          <a:lstStyle/>
          <a:p>
            <a:pPr algn="ctr" indent="0" marL="0">
              <a:buNone/>
            </a:pPr>
            <a:r>
              <a:rPr lang="en-US" sz="950" b="1" dirty="0">
                <a:solidFill>
                  <a:srgbClr val="FFFFFF"/>
                </a:solidFill>
              </a:rPr>
              <a:t>f3</a:t>
            </a:r>
            <a:endParaRPr lang="en-US" sz="950" dirty="0"/>
          </a:p>
        </p:txBody>
      </p:sp>
      <p:sp>
        <p:nvSpPr>
          <p:cNvPr id="22" name="Shape 20"/>
          <p:cNvSpPr/>
          <p:nvPr/>
        </p:nvSpPr>
        <p:spPr>
          <a:xfrm>
            <a:off x="886968" y="2743200"/>
            <a:ext cx="3429000" cy="384048"/>
          </a:xfrm>
          <a:prstGeom prst="rect">
            <a:avLst/>
          </a:prstGeom>
          <a:solidFill>
            <a:srgbClr val="F4F7FB"/>
          </a:solidFill>
          <a:ln w="9525">
            <a:solidFill>
              <a:srgbClr val="E8EDF5"/>
            </a:solidFill>
            <a:prstDash val="solid"/>
          </a:ln>
        </p:spPr>
      </p:sp>
      <p:sp>
        <p:nvSpPr>
          <p:cNvPr id="23" name="Text 21"/>
          <p:cNvSpPr/>
          <p:nvPr/>
        </p:nvSpPr>
        <p:spPr>
          <a:xfrm>
            <a:off x="960120" y="2743200"/>
            <a:ext cx="3291840" cy="384048"/>
          </a:xfrm>
          <a:prstGeom prst="rect">
            <a:avLst/>
          </a:prstGeom>
          <a:noFill/>
          <a:ln/>
        </p:spPr>
        <p:txBody>
          <a:bodyPr wrap="square" lIns="0" tIns="0" rIns="0" bIns="0" rtlCol="0" anchor="ctr"/>
          <a:lstStyle/>
          <a:p>
            <a:pPr indent="0" marL="0">
              <a:buNone/>
            </a:pPr>
            <a:r>
              <a:rPr lang="en-US" sz="1050" dirty="0">
                <a:solidFill>
                  <a:srgbClr val="1E293B"/>
                </a:solidFill>
              </a:rPr>
              <a:t>Normalised sentence length</a:t>
            </a:r>
            <a:endParaRPr lang="en-US" sz="1050" dirty="0"/>
          </a:p>
        </p:txBody>
      </p:sp>
      <p:sp>
        <p:nvSpPr>
          <p:cNvPr id="24" name="Shape 22"/>
          <p:cNvSpPr/>
          <p:nvPr/>
        </p:nvSpPr>
        <p:spPr>
          <a:xfrm>
            <a:off x="320040" y="3236976"/>
            <a:ext cx="548640" cy="384048"/>
          </a:xfrm>
          <a:prstGeom prst="rect">
            <a:avLst/>
          </a:prstGeom>
          <a:solidFill>
            <a:srgbClr val="0D8A8A"/>
          </a:solidFill>
          <a:ln w="12700">
            <a:solidFill>
              <a:srgbClr val="0D8A8A"/>
            </a:solidFill>
            <a:prstDash val="solid"/>
          </a:ln>
        </p:spPr>
      </p:sp>
      <p:sp>
        <p:nvSpPr>
          <p:cNvPr id="25" name="Text 23"/>
          <p:cNvSpPr/>
          <p:nvPr/>
        </p:nvSpPr>
        <p:spPr>
          <a:xfrm>
            <a:off x="320040" y="3236976"/>
            <a:ext cx="548640" cy="384048"/>
          </a:xfrm>
          <a:prstGeom prst="rect">
            <a:avLst/>
          </a:prstGeom>
          <a:noFill/>
          <a:ln/>
        </p:spPr>
        <p:txBody>
          <a:bodyPr wrap="square" lIns="0" tIns="0" rIns="0" bIns="0" rtlCol="0" anchor="ctr"/>
          <a:lstStyle/>
          <a:p>
            <a:pPr algn="ctr" indent="0" marL="0">
              <a:buNone/>
            </a:pPr>
            <a:r>
              <a:rPr lang="en-US" sz="950" b="1" dirty="0">
                <a:solidFill>
                  <a:srgbClr val="FFFFFF"/>
                </a:solidFill>
              </a:rPr>
              <a:t>f4/f5</a:t>
            </a:r>
            <a:endParaRPr lang="en-US" sz="950" dirty="0"/>
          </a:p>
        </p:txBody>
      </p:sp>
      <p:sp>
        <p:nvSpPr>
          <p:cNvPr id="26" name="Shape 24"/>
          <p:cNvSpPr/>
          <p:nvPr/>
        </p:nvSpPr>
        <p:spPr>
          <a:xfrm>
            <a:off x="886968" y="3236976"/>
            <a:ext cx="3429000" cy="384048"/>
          </a:xfrm>
          <a:prstGeom prst="rect">
            <a:avLst/>
          </a:prstGeom>
          <a:solidFill>
            <a:srgbClr val="F4F7FB"/>
          </a:solidFill>
          <a:ln w="9525">
            <a:solidFill>
              <a:srgbClr val="E8EDF5"/>
            </a:solidFill>
            <a:prstDash val="solid"/>
          </a:ln>
        </p:spPr>
      </p:sp>
      <p:sp>
        <p:nvSpPr>
          <p:cNvPr id="27" name="Text 25"/>
          <p:cNvSpPr/>
          <p:nvPr/>
        </p:nvSpPr>
        <p:spPr>
          <a:xfrm>
            <a:off x="960120" y="3236976"/>
            <a:ext cx="3291840" cy="384048"/>
          </a:xfrm>
          <a:prstGeom prst="rect">
            <a:avLst/>
          </a:prstGeom>
          <a:noFill/>
          <a:ln/>
        </p:spPr>
        <p:txBody>
          <a:bodyPr wrap="square" lIns="0" tIns="0" rIns="0" bIns="0" rtlCol="0" anchor="ctr"/>
          <a:lstStyle/>
          <a:p>
            <a:pPr indent="0" marL="0">
              <a:buNone/>
            </a:pPr>
            <a:r>
              <a:rPr lang="en-US" sz="1050" dirty="0">
                <a:solidFill>
                  <a:srgbClr val="1E293B"/>
                </a:solidFill>
              </a:rPr>
              <a:t>OHE cosine sim vs Q and answer</a:t>
            </a:r>
            <a:endParaRPr lang="en-US" sz="1050" dirty="0"/>
          </a:p>
        </p:txBody>
      </p:sp>
      <p:sp>
        <p:nvSpPr>
          <p:cNvPr id="28" name="Shape 26"/>
          <p:cNvSpPr/>
          <p:nvPr/>
        </p:nvSpPr>
        <p:spPr>
          <a:xfrm>
            <a:off x="320040" y="3730752"/>
            <a:ext cx="548640" cy="384048"/>
          </a:xfrm>
          <a:prstGeom prst="rect">
            <a:avLst/>
          </a:prstGeom>
          <a:solidFill>
            <a:srgbClr val="059669"/>
          </a:solidFill>
          <a:ln w="12700">
            <a:solidFill>
              <a:srgbClr val="059669"/>
            </a:solidFill>
            <a:prstDash val="solid"/>
          </a:ln>
        </p:spPr>
      </p:sp>
      <p:sp>
        <p:nvSpPr>
          <p:cNvPr id="29" name="Text 27"/>
          <p:cNvSpPr/>
          <p:nvPr/>
        </p:nvSpPr>
        <p:spPr>
          <a:xfrm>
            <a:off x="320040" y="3730752"/>
            <a:ext cx="548640" cy="384048"/>
          </a:xfrm>
          <a:prstGeom prst="rect">
            <a:avLst/>
          </a:prstGeom>
          <a:noFill/>
          <a:ln/>
        </p:spPr>
        <p:txBody>
          <a:bodyPr wrap="square" lIns="0" tIns="0" rIns="0" bIns="0" rtlCol="0" anchor="ctr"/>
          <a:lstStyle/>
          <a:p>
            <a:pPr algn="ctr" indent="0" marL="0">
              <a:buNone/>
            </a:pPr>
            <a:r>
              <a:rPr lang="en-US" sz="950" b="1" dirty="0">
                <a:solidFill>
                  <a:srgbClr val="FFFFFF"/>
                </a:solidFill>
              </a:rPr>
              <a:t>f6/f7</a:t>
            </a:r>
            <a:endParaRPr lang="en-US" sz="950" dirty="0"/>
          </a:p>
        </p:txBody>
      </p:sp>
      <p:sp>
        <p:nvSpPr>
          <p:cNvPr id="30" name="Shape 28"/>
          <p:cNvSpPr/>
          <p:nvPr/>
        </p:nvSpPr>
        <p:spPr>
          <a:xfrm>
            <a:off x="886968" y="3730752"/>
            <a:ext cx="3429000" cy="384048"/>
          </a:xfrm>
          <a:prstGeom prst="rect">
            <a:avLst/>
          </a:prstGeom>
          <a:solidFill>
            <a:srgbClr val="F4F7FB"/>
          </a:solidFill>
          <a:ln w="9525">
            <a:solidFill>
              <a:srgbClr val="E8EDF5"/>
            </a:solidFill>
            <a:prstDash val="solid"/>
          </a:ln>
        </p:spPr>
      </p:sp>
      <p:sp>
        <p:nvSpPr>
          <p:cNvPr id="31" name="Text 29"/>
          <p:cNvSpPr/>
          <p:nvPr/>
        </p:nvSpPr>
        <p:spPr>
          <a:xfrm>
            <a:off x="960120" y="3730752"/>
            <a:ext cx="3291840" cy="384048"/>
          </a:xfrm>
          <a:prstGeom prst="rect">
            <a:avLst/>
          </a:prstGeom>
          <a:noFill/>
          <a:ln/>
        </p:spPr>
        <p:txBody>
          <a:bodyPr wrap="square" lIns="0" tIns="0" rIns="0" bIns="0" rtlCol="0" anchor="ctr"/>
          <a:lstStyle/>
          <a:p>
            <a:pPr indent="0" marL="0">
              <a:buNone/>
            </a:pPr>
            <a:r>
              <a:rPr lang="en-US" sz="1050" dirty="0">
                <a:solidFill>
                  <a:srgbClr val="1E293B"/>
                </a:solidFill>
              </a:rPr>
              <a:t>TF-IDF cosine sim vs Q and answer ★</a:t>
            </a:r>
            <a:endParaRPr lang="en-US" sz="1050" dirty="0"/>
          </a:p>
        </p:txBody>
      </p:sp>
      <p:sp>
        <p:nvSpPr>
          <p:cNvPr id="32" name="Text 30"/>
          <p:cNvSpPr/>
          <p:nvPr/>
        </p:nvSpPr>
        <p:spPr>
          <a:xfrm>
            <a:off x="320040" y="4242816"/>
            <a:ext cx="4206240" cy="502920"/>
          </a:xfrm>
          <a:prstGeom prst="rect">
            <a:avLst/>
          </a:prstGeom>
          <a:noFill/>
          <a:ln/>
        </p:spPr>
        <p:txBody>
          <a:bodyPr wrap="square" rtlCol="0" anchor="ctr"/>
          <a:lstStyle/>
          <a:p>
            <a:pPr indent="0" marL="0">
              <a:buNone/>
            </a:pPr>
            <a:r>
              <a:rPr lang="en-US" sz="1000" i="1" dirty="0">
                <a:solidFill>
                  <a:srgbClr val="64748B"/>
                </a:solidFill>
              </a:rPr>
              <a:t>LR Hint Classifier  →  top 3 ranked sentences  →  Hint 1 (vague) / Hint 2 / Hint 3 (specific)</a:t>
            </a:r>
            <a:endParaRPr lang="en-US" sz="1000" dirty="0"/>
          </a:p>
        </p:txBody>
      </p:sp>
      <p:sp>
        <p:nvSpPr>
          <p:cNvPr id="33" name="Text 31"/>
          <p:cNvSpPr/>
          <p:nvPr/>
        </p:nvSpPr>
        <p:spPr>
          <a:xfrm>
            <a:off x="4754880" y="914400"/>
            <a:ext cx="4114800" cy="292608"/>
          </a:xfrm>
          <a:prstGeom prst="rect">
            <a:avLst/>
          </a:prstGeom>
          <a:noFill/>
          <a:ln/>
        </p:spPr>
        <p:txBody>
          <a:bodyPr wrap="square" rtlCol="0" anchor="ctr"/>
          <a:lstStyle/>
          <a:p>
            <a:pPr indent="0" marL="0">
              <a:buNone/>
            </a:pPr>
            <a:r>
              <a:rPr lang="en-US" sz="1300" b="1" dirty="0">
                <a:solidFill>
                  <a:srgbClr val="2563A8"/>
                </a:solidFill>
              </a:rPr>
              <a:t>Evaluation Metrics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754880" y="1261872"/>
          <a:ext cx="4114800" cy="3127248"/>
        </p:xfrm>
        <a:graphic>
          <a:graphicData uri="http://schemas.openxmlformats.org/drawingml/2006/table">
            <a:tbl>
              <a:tblPr/>
              <a:tblGrid>
                <a:gridCol w="1828800"/>
                <a:gridCol w="1188720"/>
                <a:gridCol w="1097280"/>
              </a:tblGrid>
              <a:tr h="390906">
                <a:tc>
                  <a:txBody>
                    <a:bodyPr/>
                    <a:lstStyle/>
                    <a:p>
                      <a:pPr indent="0" marL="0">
                        <a:buNone/>
                      </a:pPr>
                      <a:r>
                        <a:rPr lang="en-US" sz="1000" b="1" dirty="0">
                          <a:solidFill>
                            <a:srgbClr val="FFFFFF"/>
                          </a:solidFill>
                        </a:rPr>
                        <a:t>Metric</a:t>
                      </a:r>
                      <a:endParaRPr lang="en-US" sz="100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c>
                  <a:txBody>
                    <a:bodyPr/>
                    <a:lstStyle/>
                    <a:p>
                      <a:pPr indent="0" marL="0">
                        <a:buNone/>
                      </a:pPr>
                      <a:r>
                        <a:rPr lang="en-US" sz="1000" b="1" dirty="0">
                          <a:solidFill>
                            <a:srgbClr val="FFFFFF"/>
                          </a:solidFill>
                        </a:rPr>
                        <a:t>Hints</a:t>
                      </a:r>
                      <a:endParaRPr lang="en-US" sz="100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c>
                  <a:txBody>
                    <a:bodyPr/>
                    <a:lstStyle/>
                    <a:p>
                      <a:pPr indent="0" marL="0">
                        <a:buNone/>
                      </a:pPr>
                      <a:r>
                        <a:rPr lang="en-US" sz="1000" b="1" dirty="0">
                          <a:solidFill>
                            <a:srgbClr val="FFFFFF"/>
                          </a:solidFill>
                        </a:rPr>
                        <a:t>Distractors</a:t>
                      </a:r>
                      <a:endParaRPr lang="en-US" sz="100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1A2B4A"/>
                    </a:solidFill>
                  </a:tcPr>
                </a:tc>
              </a:tr>
              <a:tr h="390906">
                <a:tc>
                  <a:txBody>
                    <a:bodyPr/>
                    <a:lstStyle/>
                    <a:p>
                      <a:pPr indent="0" marL="0">
                        <a:buNone/>
                      </a:pPr>
                      <a:r>
                        <a:rPr lang="en-US" sz="1050" dirty="0">
                          <a:solidFill>
                            <a:srgbClr val="000000"/>
                          </a:solidFill>
                        </a:rPr>
                        <a:t>BLEU</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b="1" dirty="0">
                          <a:solidFill>
                            <a:srgbClr val="059669"/>
                          </a:solidFill>
                        </a:rPr>
                        <a:t>0.2362</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0.0038 ✓</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r>
              <a:tr h="390906">
                <a:tc>
                  <a:txBody>
                    <a:bodyPr/>
                    <a:lstStyle/>
                    <a:p>
                      <a:pPr indent="0" marL="0">
                        <a:buNone/>
                      </a:pPr>
                      <a:r>
                        <a:rPr lang="en-US" sz="1050" dirty="0">
                          <a:solidFill>
                            <a:srgbClr val="000000"/>
                          </a:solidFill>
                        </a:rPr>
                        <a:t>ROUGE-1</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b="1" dirty="0">
                          <a:solidFill>
                            <a:srgbClr val="059669"/>
                          </a:solidFill>
                        </a:rPr>
                        <a:t>0.3652</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0.0221</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r>
              <a:tr h="390906">
                <a:tc>
                  <a:txBody>
                    <a:bodyPr/>
                    <a:lstStyle/>
                    <a:p>
                      <a:pPr indent="0" marL="0">
                        <a:buNone/>
                      </a:pPr>
                      <a:r>
                        <a:rPr lang="en-US" sz="1050" dirty="0">
                          <a:solidFill>
                            <a:srgbClr val="000000"/>
                          </a:solidFill>
                        </a:rPr>
                        <a:t>ROUGE-L</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b="1" dirty="0">
                          <a:solidFill>
                            <a:srgbClr val="059669"/>
                          </a:solidFill>
                        </a:rPr>
                        <a:t>0.3315</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0.0221</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r>
              <a:tr h="390906">
                <a:tc>
                  <a:txBody>
                    <a:bodyPr/>
                    <a:lstStyle/>
                    <a:p>
                      <a:pPr indent="0" marL="0">
                        <a:buNone/>
                      </a:pPr>
                      <a:r>
                        <a:rPr lang="en-US" sz="1050" dirty="0">
                          <a:solidFill>
                            <a:srgbClr val="000000"/>
                          </a:solidFill>
                        </a:rPr>
                        <a:t>METEOR</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b="1" dirty="0">
                          <a:solidFill>
                            <a:srgbClr val="059669"/>
                          </a:solidFill>
                        </a:rPr>
                        <a:t>0.2986</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dirty="0">
                          <a:solidFill>
                            <a:srgbClr val="000000"/>
                          </a:solidFill>
                        </a:rPr>
                        <a:t>0.0140</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r>
              <a:tr h="390906">
                <a:tc>
                  <a:txBody>
                    <a:bodyPr/>
                    <a:lstStyle/>
                    <a:p>
                      <a:pPr indent="0" marL="0">
                        <a:buNone/>
                      </a:pPr>
                      <a:r>
                        <a:rPr lang="en-US" sz="1050" b="1" dirty="0">
                          <a:solidFill>
                            <a:srgbClr val="000000"/>
                          </a:solidFill>
                        </a:rPr>
                        <a:t>Precision@3</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b="1" dirty="0">
                          <a:solidFill>
                            <a:srgbClr val="059669"/>
                          </a:solidFill>
                        </a:rPr>
                        <a:t>0.8917 ★</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r>
              <a:tr h="390906">
                <a:tc>
                  <a:txBody>
                    <a:bodyPr/>
                    <a:lstStyle/>
                    <a:p>
                      <a:pPr indent="0" marL="0">
                        <a:buNone/>
                      </a:pPr>
                      <a:r>
                        <a:rPr lang="en-US" sz="1050" dirty="0">
                          <a:solidFill>
                            <a:srgbClr val="000000"/>
                          </a:solidFill>
                        </a:rPr>
                        <a:t>Classifier F1</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b="1" dirty="0">
                          <a:solidFill>
                            <a:srgbClr val="059669"/>
                          </a:solidFill>
                        </a:rPr>
                        <a:t>0.9593</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c>
                  <a:txBody>
                    <a:bodyPr/>
                    <a:lstStyle/>
                    <a:p>
                      <a:pPr indent="0" marL="0">
                        <a:buNone/>
                      </a:pPr>
                      <a:r>
                        <a:rPr lang="en-US" sz="1050" b="1" dirty="0">
                          <a:solidFill>
                            <a:srgbClr val="000000"/>
                          </a:solidFill>
                        </a:rPr>
                        <a:t>0.9303 (RF)</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solidFill>
                      <a:srgbClr val="EEF2FA"/>
                    </a:solidFill>
                  </a:tcPr>
                </a:tc>
              </a:tr>
              <a:tr h="390906">
                <a:tc>
                  <a:txBody>
                    <a:bodyPr/>
                    <a:lstStyle/>
                    <a:p>
                      <a:pPr indent="0" marL="0">
                        <a:buNone/>
                      </a:pPr>
                      <a:r>
                        <a:rPr lang="en-US" sz="1050" dirty="0">
                          <a:solidFill>
                            <a:srgbClr val="000000"/>
                          </a:solidFill>
                        </a:rPr>
                        <a:t>Ranker Accuracy</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c>
                  <a:txBody>
                    <a:bodyPr/>
                    <a:lstStyle/>
                    <a:p>
                      <a:pPr indent="0" marL="0">
                        <a:buNone/>
                      </a:pPr>
                      <a:r>
                        <a:rPr lang="en-US" sz="1050" dirty="0">
                          <a:solidFill>
                            <a:srgbClr val="000000"/>
                          </a:solidFill>
                        </a:rPr>
                        <a:t>98.61%</a:t>
                      </a:r>
                      <a:endParaRPr lang="en-US" sz="1050" dirty="0"/>
                    </a:p>
                  </a:txBody>
                  <a:tcPr marL="91440" marR="91440" marT="45720" marB="45720">
                    <a:lnL w="6350" cap="flat" cmpd="sng" algn="ctr">
                      <a:solidFill>
                        <a:srgbClr val="D1D5E8"/>
                      </a:solidFill>
                      <a:prstDash val="solid"/>
                      <a:round/>
                      <a:headEnd type="none" w="med" len="med"/>
                      <a:tailEnd type="none" w="med" len="med"/>
                    </a:lnL>
                    <a:lnR w="6350" cap="flat" cmpd="sng" algn="ctr">
                      <a:solidFill>
                        <a:srgbClr val="D1D5E8"/>
                      </a:solidFill>
                      <a:prstDash val="solid"/>
                      <a:round/>
                      <a:headEnd type="none" w="med" len="med"/>
                      <a:tailEnd type="none" w="med" len="med"/>
                    </a:lnR>
                    <a:lnT w="6350" cap="flat" cmpd="sng" algn="ctr">
                      <a:solidFill>
                        <a:srgbClr val="D1D5E8"/>
                      </a:solidFill>
                      <a:prstDash val="solid"/>
                      <a:round/>
                      <a:headEnd type="none" w="med" len="med"/>
                      <a:tailEnd type="none" w="med" len="med"/>
                    </a:lnT>
                    <a:lnB w="6350" cap="flat" cmpd="sng" algn="ctr">
                      <a:solidFill>
                        <a:srgbClr val="D1D5E8"/>
                      </a:solidFill>
                      <a:prstDash val="solid"/>
                      <a:round/>
                      <a:headEnd type="none" w="med" len="med"/>
                      <a:tailEnd type="none" w="med" len="med"/>
                    </a:lnB>
                  </a:tcPr>
                </a:tc>
              </a:tr>
            </a:tbl>
          </a:graphicData>
        </a:graphic>
      </p:graphicFrame>
      <p:sp>
        <p:nvSpPr>
          <p:cNvPr id="35" name="Shape 32"/>
          <p:cNvSpPr/>
          <p:nvPr/>
        </p:nvSpPr>
        <p:spPr>
          <a:xfrm>
            <a:off x="4754880" y="4462272"/>
            <a:ext cx="4114800" cy="566928"/>
          </a:xfrm>
          <a:prstGeom prst="rect">
            <a:avLst/>
          </a:prstGeom>
          <a:solidFill>
            <a:srgbClr val="FFF7ED"/>
          </a:solidFill>
          <a:ln w="12700">
            <a:solidFill>
              <a:srgbClr val="F59E0B"/>
            </a:solidFill>
            <a:prstDash val="solid"/>
          </a:ln>
        </p:spPr>
      </p:sp>
      <p:sp>
        <p:nvSpPr>
          <p:cNvPr id="36" name="Text 33"/>
          <p:cNvSpPr/>
          <p:nvPr/>
        </p:nvSpPr>
        <p:spPr>
          <a:xfrm>
            <a:off x="4864608" y="4507992"/>
            <a:ext cx="3895344" cy="493776"/>
          </a:xfrm>
          <a:prstGeom prst="rect">
            <a:avLst/>
          </a:prstGeom>
          <a:noFill/>
          <a:ln/>
        </p:spPr>
        <p:txBody>
          <a:bodyPr wrap="square" rtlCol="0" anchor="ctr"/>
          <a:lstStyle/>
          <a:p>
            <a:pPr indent="0" marL="0">
              <a:buNone/>
            </a:pPr>
            <a:r>
              <a:rPr lang="en-US" sz="1000" dirty="0">
                <a:solidFill>
                  <a:srgbClr val="1E293B"/>
                </a:solidFill>
              </a:rPr>
              <a:t>Low distractor BLEU (0.0038) is expected and desirable — good distractors must be lexically distinct from the gold reference options.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Statistical Methods &amp; Metrics</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11 / 15</a:t>
            </a:r>
            <a:endParaRPr lang="en-US" sz="800" dirty="0"/>
          </a:p>
        </p:txBody>
      </p:sp>
      <p:sp>
        <p:nvSpPr>
          <p:cNvPr id="7" name="Shape 5"/>
          <p:cNvSpPr/>
          <p:nvPr/>
        </p:nvSpPr>
        <p:spPr>
          <a:xfrm>
            <a:off x="320040" y="886968"/>
            <a:ext cx="8503920" cy="329184"/>
          </a:xfrm>
          <a:prstGeom prst="rect">
            <a:avLst/>
          </a:prstGeom>
          <a:solidFill>
            <a:srgbClr val="0D8A8A"/>
          </a:solidFill>
          <a:ln w="12700">
            <a:solidFill>
              <a:srgbClr val="1A2B4A"/>
            </a:solidFill>
            <a:prstDash val="solid"/>
          </a:ln>
        </p:spPr>
      </p:sp>
      <p:sp>
        <p:nvSpPr>
          <p:cNvPr id="8" name="Text 6"/>
          <p:cNvSpPr/>
          <p:nvPr/>
        </p:nvSpPr>
        <p:spPr>
          <a:xfrm>
            <a:off x="411480" y="886968"/>
            <a:ext cx="8321040" cy="329184"/>
          </a:xfrm>
          <a:prstGeom prst="rect">
            <a:avLst/>
          </a:prstGeom>
          <a:noFill/>
          <a:ln/>
        </p:spPr>
        <p:txBody>
          <a:bodyPr wrap="square" lIns="0" tIns="0" rIns="0" bIns="0" rtlCol="0" anchor="ctr"/>
          <a:lstStyle/>
          <a:p>
            <a:pPr indent="0" marL="0">
              <a:buNone/>
            </a:pPr>
            <a:r>
              <a:rPr lang="en-US" sz="1200" b="1" dirty="0">
                <a:solidFill>
                  <a:srgbClr val="FFFFFF"/>
                </a:solidFill>
              </a:rPr>
              <a:t>Feature Engineering</a:t>
            </a:r>
            <a:endParaRPr lang="en-US" sz="1200" dirty="0"/>
          </a:p>
        </p:txBody>
      </p:sp>
      <p:sp>
        <p:nvSpPr>
          <p:cNvPr id="9" name="Shape 7"/>
          <p:cNvSpPr/>
          <p:nvPr/>
        </p:nvSpPr>
        <p:spPr>
          <a:xfrm>
            <a:off x="320040" y="1216152"/>
            <a:ext cx="8503920" cy="347472"/>
          </a:xfrm>
          <a:prstGeom prst="rect">
            <a:avLst/>
          </a:prstGeom>
          <a:solidFill>
            <a:srgbClr val="F4F7FB"/>
          </a:solidFill>
          <a:ln w="6350">
            <a:solidFill>
              <a:srgbClr val="E8EDF5"/>
            </a:solidFill>
            <a:prstDash val="solid"/>
          </a:ln>
        </p:spPr>
      </p:sp>
      <p:sp>
        <p:nvSpPr>
          <p:cNvPr id="10" name="Text 8"/>
          <p:cNvSpPr/>
          <p:nvPr/>
        </p:nvSpPr>
        <p:spPr>
          <a:xfrm>
            <a:off x="457200" y="1234440"/>
            <a:ext cx="8229600" cy="320040"/>
          </a:xfrm>
          <a:prstGeom prst="rect">
            <a:avLst/>
          </a:prstGeom>
          <a:noFill/>
          <a:ln/>
        </p:spPr>
        <p:txBody>
          <a:bodyPr wrap="square" lIns="0" tIns="0" rIns="0" bIns="0" rtlCol="0" anchor="ctr"/>
          <a:lstStyle/>
          <a:p>
            <a:pPr indent="0" marL="0">
              <a:buNone/>
            </a:pPr>
            <a:r>
              <a:rPr lang="en-US" sz="1050" dirty="0">
                <a:solidFill>
                  <a:srgbClr val="1E293B"/>
                </a:solidFill>
              </a:rPr>
              <a:t>• TF-IDF (50K) — weighted term-document matrix, primary Model A features</a:t>
            </a:r>
            <a:endParaRPr lang="en-US" sz="1050" dirty="0"/>
          </a:p>
        </p:txBody>
      </p:sp>
      <p:sp>
        <p:nvSpPr>
          <p:cNvPr id="11" name="Shape 9"/>
          <p:cNvSpPr/>
          <p:nvPr/>
        </p:nvSpPr>
        <p:spPr>
          <a:xfrm>
            <a:off x="320040" y="1563624"/>
            <a:ext cx="8503920" cy="347472"/>
          </a:xfrm>
          <a:prstGeom prst="rect">
            <a:avLst/>
          </a:prstGeom>
          <a:solidFill>
            <a:srgbClr val="FFFFFF"/>
          </a:solidFill>
          <a:ln w="6350">
            <a:solidFill>
              <a:srgbClr val="E8EDF5"/>
            </a:solidFill>
            <a:prstDash val="solid"/>
          </a:ln>
        </p:spPr>
      </p:sp>
      <p:sp>
        <p:nvSpPr>
          <p:cNvPr id="12" name="Text 10"/>
          <p:cNvSpPr/>
          <p:nvPr/>
        </p:nvSpPr>
        <p:spPr>
          <a:xfrm>
            <a:off x="457200" y="1581912"/>
            <a:ext cx="8229600" cy="320040"/>
          </a:xfrm>
          <a:prstGeom prst="rect">
            <a:avLst/>
          </a:prstGeom>
          <a:noFill/>
          <a:ln/>
        </p:spPr>
        <p:txBody>
          <a:bodyPr wrap="square" lIns="0" tIns="0" rIns="0" bIns="0" rtlCol="0" anchor="ctr"/>
          <a:lstStyle/>
          <a:p>
            <a:pPr indent="0" marL="0">
              <a:buNone/>
            </a:pPr>
            <a:r>
              <a:rPr lang="en-US" sz="1050" dirty="0">
                <a:solidFill>
                  <a:srgbClr val="1E293B"/>
                </a:solidFill>
              </a:rPr>
              <a:t>• One-Hot Encoding — binary vocab vectors for Model B cosine scoring</a:t>
            </a:r>
            <a:endParaRPr lang="en-US" sz="1050" dirty="0"/>
          </a:p>
        </p:txBody>
      </p:sp>
      <p:sp>
        <p:nvSpPr>
          <p:cNvPr id="13" name="Shape 11"/>
          <p:cNvSpPr/>
          <p:nvPr/>
        </p:nvSpPr>
        <p:spPr>
          <a:xfrm>
            <a:off x="320040" y="1911096"/>
            <a:ext cx="8503920" cy="347472"/>
          </a:xfrm>
          <a:prstGeom prst="rect">
            <a:avLst/>
          </a:prstGeom>
          <a:solidFill>
            <a:srgbClr val="F4F7FB"/>
          </a:solidFill>
          <a:ln w="6350">
            <a:solidFill>
              <a:srgbClr val="E8EDF5"/>
            </a:solidFill>
            <a:prstDash val="solid"/>
          </a:ln>
        </p:spPr>
      </p:sp>
      <p:sp>
        <p:nvSpPr>
          <p:cNvPr id="14" name="Text 12"/>
          <p:cNvSpPr/>
          <p:nvPr/>
        </p:nvSpPr>
        <p:spPr>
          <a:xfrm>
            <a:off x="457200" y="1929384"/>
            <a:ext cx="8229600" cy="320040"/>
          </a:xfrm>
          <a:prstGeom prst="rect">
            <a:avLst/>
          </a:prstGeom>
          <a:noFill/>
          <a:ln/>
        </p:spPr>
        <p:txBody>
          <a:bodyPr wrap="square" lIns="0" tIns="0" rIns="0" bIns="0" rtlCol="0" anchor="ctr"/>
          <a:lstStyle/>
          <a:p>
            <a:pPr indent="0" marL="0">
              <a:buNone/>
            </a:pPr>
            <a:r>
              <a:rPr lang="en-US" sz="1050" dirty="0">
                <a:solidFill>
                  <a:srgbClr val="1E293B"/>
                </a:solidFill>
              </a:rPr>
              <a:t>• Cosine Similarity — measures overlap in feature space for ranking</a:t>
            </a:r>
            <a:endParaRPr lang="en-US" sz="1050" dirty="0"/>
          </a:p>
        </p:txBody>
      </p:sp>
      <p:sp>
        <p:nvSpPr>
          <p:cNvPr id="15" name="Shape 13"/>
          <p:cNvSpPr/>
          <p:nvPr/>
        </p:nvSpPr>
        <p:spPr>
          <a:xfrm>
            <a:off x="320040" y="2322576"/>
            <a:ext cx="8503920" cy="329184"/>
          </a:xfrm>
          <a:prstGeom prst="rect">
            <a:avLst/>
          </a:prstGeom>
          <a:solidFill>
            <a:srgbClr val="1A2B4A"/>
          </a:solidFill>
          <a:ln w="12700">
            <a:solidFill>
              <a:srgbClr val="1A2B4A"/>
            </a:solidFill>
            <a:prstDash val="solid"/>
          </a:ln>
        </p:spPr>
      </p:sp>
      <p:sp>
        <p:nvSpPr>
          <p:cNvPr id="16" name="Text 14"/>
          <p:cNvSpPr/>
          <p:nvPr/>
        </p:nvSpPr>
        <p:spPr>
          <a:xfrm>
            <a:off x="411480" y="2322576"/>
            <a:ext cx="8321040" cy="329184"/>
          </a:xfrm>
          <a:prstGeom prst="rect">
            <a:avLst/>
          </a:prstGeom>
          <a:noFill/>
          <a:ln/>
        </p:spPr>
        <p:txBody>
          <a:bodyPr wrap="square" lIns="0" tIns="0" rIns="0" bIns="0" rtlCol="0" anchor="ctr"/>
          <a:lstStyle/>
          <a:p>
            <a:pPr indent="0" marL="0">
              <a:buNone/>
            </a:pPr>
            <a:r>
              <a:rPr lang="en-US" sz="1200" b="1" dirty="0">
                <a:solidFill>
                  <a:srgbClr val="FFFFFF"/>
                </a:solidFill>
              </a:rPr>
              <a:t>Model A Methods</a:t>
            </a:r>
            <a:endParaRPr lang="en-US" sz="1200" dirty="0"/>
          </a:p>
        </p:txBody>
      </p:sp>
      <p:sp>
        <p:nvSpPr>
          <p:cNvPr id="17" name="Shape 15"/>
          <p:cNvSpPr/>
          <p:nvPr/>
        </p:nvSpPr>
        <p:spPr>
          <a:xfrm>
            <a:off x="320040" y="2651760"/>
            <a:ext cx="8503920" cy="347472"/>
          </a:xfrm>
          <a:prstGeom prst="rect">
            <a:avLst/>
          </a:prstGeom>
          <a:solidFill>
            <a:srgbClr val="F4F7FB"/>
          </a:solidFill>
          <a:ln w="6350">
            <a:solidFill>
              <a:srgbClr val="E8EDF5"/>
            </a:solidFill>
            <a:prstDash val="solid"/>
          </a:ln>
        </p:spPr>
      </p:sp>
      <p:sp>
        <p:nvSpPr>
          <p:cNvPr id="18" name="Text 16"/>
          <p:cNvSpPr/>
          <p:nvPr/>
        </p:nvSpPr>
        <p:spPr>
          <a:xfrm>
            <a:off x="457200" y="2670048"/>
            <a:ext cx="8229600" cy="320040"/>
          </a:xfrm>
          <a:prstGeom prst="rect">
            <a:avLst/>
          </a:prstGeom>
          <a:noFill/>
          <a:ln/>
        </p:spPr>
        <p:txBody>
          <a:bodyPr wrap="square" lIns="0" tIns="0" rIns="0" bIns="0" rtlCol="0" anchor="ctr"/>
          <a:lstStyle/>
          <a:p>
            <a:pPr indent="0" marL="0">
              <a:buNone/>
            </a:pPr>
            <a:r>
              <a:rPr lang="en-US" sz="1050" dirty="0">
                <a:solidFill>
                  <a:srgbClr val="1E293B"/>
                </a:solidFill>
              </a:rPr>
              <a:t>• Class Weight Balancing — penalises majority class misclassification</a:t>
            </a:r>
            <a:endParaRPr lang="en-US" sz="1050" dirty="0"/>
          </a:p>
        </p:txBody>
      </p:sp>
      <p:sp>
        <p:nvSpPr>
          <p:cNvPr id="19" name="Shape 17"/>
          <p:cNvSpPr/>
          <p:nvPr/>
        </p:nvSpPr>
        <p:spPr>
          <a:xfrm>
            <a:off x="320040" y="2999232"/>
            <a:ext cx="8503920" cy="347472"/>
          </a:xfrm>
          <a:prstGeom prst="rect">
            <a:avLst/>
          </a:prstGeom>
          <a:solidFill>
            <a:srgbClr val="FFFFFF"/>
          </a:solidFill>
          <a:ln w="6350">
            <a:solidFill>
              <a:srgbClr val="E8EDF5"/>
            </a:solidFill>
            <a:prstDash val="solid"/>
          </a:ln>
        </p:spPr>
      </p:sp>
      <p:sp>
        <p:nvSpPr>
          <p:cNvPr id="20" name="Text 18"/>
          <p:cNvSpPr/>
          <p:nvPr/>
        </p:nvSpPr>
        <p:spPr>
          <a:xfrm>
            <a:off x="457200" y="3017520"/>
            <a:ext cx="8229600" cy="320040"/>
          </a:xfrm>
          <a:prstGeom prst="rect">
            <a:avLst/>
          </a:prstGeom>
          <a:noFill/>
          <a:ln/>
        </p:spPr>
        <p:txBody>
          <a:bodyPr wrap="square" lIns="0" tIns="0" rIns="0" bIns="0" rtlCol="0" anchor="ctr"/>
          <a:lstStyle/>
          <a:p>
            <a:pPr indent="0" marL="0">
              <a:buNone/>
            </a:pPr>
            <a:r>
              <a:rPr lang="en-US" sz="1050" dirty="0">
                <a:solidFill>
                  <a:srgbClr val="1E293B"/>
                </a:solidFill>
              </a:rPr>
              <a:t>• GridSearchCV 5-fold — hyperparameter tuning on Random Forest</a:t>
            </a:r>
            <a:endParaRPr lang="en-US" sz="1050" dirty="0"/>
          </a:p>
        </p:txBody>
      </p:sp>
      <p:sp>
        <p:nvSpPr>
          <p:cNvPr id="21" name="Shape 19"/>
          <p:cNvSpPr/>
          <p:nvPr/>
        </p:nvSpPr>
        <p:spPr>
          <a:xfrm>
            <a:off x="320040" y="3346704"/>
            <a:ext cx="8503920" cy="347472"/>
          </a:xfrm>
          <a:prstGeom prst="rect">
            <a:avLst/>
          </a:prstGeom>
          <a:solidFill>
            <a:srgbClr val="F4F7FB"/>
          </a:solidFill>
          <a:ln w="6350">
            <a:solidFill>
              <a:srgbClr val="E8EDF5"/>
            </a:solidFill>
            <a:prstDash val="solid"/>
          </a:ln>
        </p:spPr>
      </p:sp>
      <p:sp>
        <p:nvSpPr>
          <p:cNvPr id="22" name="Text 20"/>
          <p:cNvSpPr/>
          <p:nvPr/>
        </p:nvSpPr>
        <p:spPr>
          <a:xfrm>
            <a:off x="457200" y="3364992"/>
            <a:ext cx="8229600" cy="320040"/>
          </a:xfrm>
          <a:prstGeom prst="rect">
            <a:avLst/>
          </a:prstGeom>
          <a:noFill/>
          <a:ln/>
        </p:spPr>
        <p:txBody>
          <a:bodyPr wrap="square" lIns="0" tIns="0" rIns="0" bIns="0" rtlCol="0" anchor="ctr"/>
          <a:lstStyle/>
          <a:p>
            <a:pPr indent="0" marL="0">
              <a:buNone/>
            </a:pPr>
            <a:r>
              <a:rPr lang="en-US" sz="1050" dirty="0">
                <a:solidFill>
                  <a:srgbClr val="1E293B"/>
                </a:solidFill>
              </a:rPr>
              <a:t>• Threshold Tuning — optimal decision boundary at 0.49 (not default 0.50)</a:t>
            </a:r>
            <a:endParaRPr lang="en-US" sz="1050" dirty="0"/>
          </a:p>
        </p:txBody>
      </p:sp>
      <p:sp>
        <p:nvSpPr>
          <p:cNvPr id="23" name="Shape 21"/>
          <p:cNvSpPr/>
          <p:nvPr/>
        </p:nvSpPr>
        <p:spPr>
          <a:xfrm>
            <a:off x="320040" y="3694176"/>
            <a:ext cx="8503920" cy="347472"/>
          </a:xfrm>
          <a:prstGeom prst="rect">
            <a:avLst/>
          </a:prstGeom>
          <a:solidFill>
            <a:srgbClr val="FFFFFF"/>
          </a:solidFill>
          <a:ln w="6350">
            <a:solidFill>
              <a:srgbClr val="E8EDF5"/>
            </a:solidFill>
            <a:prstDash val="solid"/>
          </a:ln>
        </p:spPr>
      </p:sp>
      <p:sp>
        <p:nvSpPr>
          <p:cNvPr id="24" name="Text 22"/>
          <p:cNvSpPr/>
          <p:nvPr/>
        </p:nvSpPr>
        <p:spPr>
          <a:xfrm>
            <a:off x="457200" y="3712464"/>
            <a:ext cx="8229600" cy="320040"/>
          </a:xfrm>
          <a:prstGeom prst="rect">
            <a:avLst/>
          </a:prstGeom>
          <a:noFill/>
          <a:ln/>
        </p:spPr>
        <p:txBody>
          <a:bodyPr wrap="square" lIns="0" tIns="0" rIns="0" bIns="0" rtlCol="0" anchor="ctr"/>
          <a:lstStyle/>
          <a:p>
            <a:pPr indent="0" marL="0">
              <a:buNone/>
            </a:pPr>
            <a:r>
              <a:rPr lang="en-US" sz="1050" dirty="0">
                <a:solidFill>
                  <a:srgbClr val="1E293B"/>
                </a:solidFill>
              </a:rPr>
              <a:t>• Silhouette Score — K-Means: 0.035 · GMM: 0.058 — near zero = poor separation</a:t>
            </a:r>
            <a:endParaRPr lang="en-US" sz="1050" dirty="0"/>
          </a:p>
        </p:txBody>
      </p:sp>
      <p:sp>
        <p:nvSpPr>
          <p:cNvPr id="25" name="Shape 23"/>
          <p:cNvSpPr/>
          <p:nvPr/>
        </p:nvSpPr>
        <p:spPr>
          <a:xfrm>
            <a:off x="320040" y="3758184"/>
            <a:ext cx="8503920" cy="329184"/>
          </a:xfrm>
          <a:prstGeom prst="rect">
            <a:avLst/>
          </a:prstGeom>
          <a:solidFill>
            <a:srgbClr val="2563A8"/>
          </a:solidFill>
          <a:ln w="12700">
            <a:solidFill>
              <a:srgbClr val="1A2B4A"/>
            </a:solidFill>
            <a:prstDash val="solid"/>
          </a:ln>
        </p:spPr>
      </p:sp>
      <p:sp>
        <p:nvSpPr>
          <p:cNvPr id="26" name="Text 24"/>
          <p:cNvSpPr/>
          <p:nvPr/>
        </p:nvSpPr>
        <p:spPr>
          <a:xfrm>
            <a:off x="411480" y="3758184"/>
            <a:ext cx="8321040" cy="329184"/>
          </a:xfrm>
          <a:prstGeom prst="rect">
            <a:avLst/>
          </a:prstGeom>
          <a:noFill/>
          <a:ln/>
        </p:spPr>
        <p:txBody>
          <a:bodyPr wrap="square" lIns="0" tIns="0" rIns="0" bIns="0" rtlCol="0" anchor="ctr"/>
          <a:lstStyle/>
          <a:p>
            <a:pPr indent="0" marL="0">
              <a:buNone/>
            </a:pPr>
            <a:r>
              <a:rPr lang="en-US" sz="1200" b="1" dirty="0">
                <a:solidFill>
                  <a:srgbClr val="FFFFFF"/>
                </a:solidFill>
              </a:rPr>
              <a:t>Model B Methods</a:t>
            </a:r>
            <a:endParaRPr lang="en-US" sz="1200" dirty="0"/>
          </a:p>
        </p:txBody>
      </p:sp>
      <p:sp>
        <p:nvSpPr>
          <p:cNvPr id="27" name="Shape 25"/>
          <p:cNvSpPr/>
          <p:nvPr/>
        </p:nvSpPr>
        <p:spPr>
          <a:xfrm>
            <a:off x="320040" y="4087368"/>
            <a:ext cx="8503920" cy="347472"/>
          </a:xfrm>
          <a:prstGeom prst="rect">
            <a:avLst/>
          </a:prstGeom>
          <a:solidFill>
            <a:srgbClr val="F4F7FB"/>
          </a:solidFill>
          <a:ln w="6350">
            <a:solidFill>
              <a:srgbClr val="E8EDF5"/>
            </a:solidFill>
            <a:prstDash val="solid"/>
          </a:ln>
        </p:spPr>
      </p:sp>
      <p:sp>
        <p:nvSpPr>
          <p:cNvPr id="28" name="Text 26"/>
          <p:cNvSpPr/>
          <p:nvPr/>
        </p:nvSpPr>
        <p:spPr>
          <a:xfrm>
            <a:off x="457200" y="4105656"/>
            <a:ext cx="8229600" cy="320040"/>
          </a:xfrm>
          <a:prstGeom prst="rect">
            <a:avLst/>
          </a:prstGeom>
          <a:noFill/>
          <a:ln/>
        </p:spPr>
        <p:txBody>
          <a:bodyPr wrap="square" lIns="0" tIns="0" rIns="0" bIns="0" rtlCol="0" anchor="ctr"/>
          <a:lstStyle/>
          <a:p>
            <a:pPr indent="0" marL="0">
              <a:buNone/>
            </a:pPr>
            <a:r>
              <a:rPr lang="en-US" sz="1050" dirty="0">
                <a:solidFill>
                  <a:srgbClr val="1E293B"/>
                </a:solidFill>
              </a:rPr>
              <a:t>• Word2Vec (Google News 300-d) — semantic nearest-neighbour distractor retrieval</a:t>
            </a:r>
            <a:endParaRPr lang="en-US" sz="1050" dirty="0"/>
          </a:p>
        </p:txBody>
      </p:sp>
      <p:sp>
        <p:nvSpPr>
          <p:cNvPr id="29" name="Shape 27"/>
          <p:cNvSpPr/>
          <p:nvPr/>
        </p:nvSpPr>
        <p:spPr>
          <a:xfrm>
            <a:off x="320040" y="4434840"/>
            <a:ext cx="8503920" cy="347472"/>
          </a:xfrm>
          <a:prstGeom prst="rect">
            <a:avLst/>
          </a:prstGeom>
          <a:solidFill>
            <a:srgbClr val="FFFFFF"/>
          </a:solidFill>
          <a:ln w="6350">
            <a:solidFill>
              <a:srgbClr val="E8EDF5"/>
            </a:solidFill>
            <a:prstDash val="solid"/>
          </a:ln>
        </p:spPr>
      </p:sp>
      <p:sp>
        <p:nvSpPr>
          <p:cNvPr id="30" name="Text 28"/>
          <p:cNvSpPr/>
          <p:nvPr/>
        </p:nvSpPr>
        <p:spPr>
          <a:xfrm>
            <a:off x="457200" y="4453128"/>
            <a:ext cx="8229600" cy="320040"/>
          </a:xfrm>
          <a:prstGeom prst="rect">
            <a:avLst/>
          </a:prstGeom>
          <a:noFill/>
          <a:ln/>
        </p:spPr>
        <p:txBody>
          <a:bodyPr wrap="square" lIns="0" tIns="0" rIns="0" bIns="0" rtlCol="0" anchor="ctr"/>
          <a:lstStyle/>
          <a:p>
            <a:pPr indent="0" marL="0">
              <a:buNone/>
            </a:pPr>
            <a:r>
              <a:rPr lang="en-US" sz="1050" dirty="0">
                <a:solidFill>
                  <a:srgbClr val="1E293B"/>
                </a:solidFill>
              </a:rPr>
              <a:t>• BLEU / ROUGE / METEOR — n-gram &amp; synonym overlap metrics for generation quality</a:t>
            </a:r>
            <a:endParaRPr lang="en-US" sz="1050" dirty="0"/>
          </a:p>
        </p:txBody>
      </p:sp>
      <p:sp>
        <p:nvSpPr>
          <p:cNvPr id="31" name="Shape 29"/>
          <p:cNvSpPr/>
          <p:nvPr/>
        </p:nvSpPr>
        <p:spPr>
          <a:xfrm>
            <a:off x="320040" y="4782312"/>
            <a:ext cx="8503920" cy="347472"/>
          </a:xfrm>
          <a:prstGeom prst="rect">
            <a:avLst/>
          </a:prstGeom>
          <a:solidFill>
            <a:srgbClr val="F4F7FB"/>
          </a:solidFill>
          <a:ln w="6350">
            <a:solidFill>
              <a:srgbClr val="E8EDF5"/>
            </a:solidFill>
            <a:prstDash val="solid"/>
          </a:ln>
        </p:spPr>
      </p:sp>
      <p:sp>
        <p:nvSpPr>
          <p:cNvPr id="32" name="Text 30"/>
          <p:cNvSpPr/>
          <p:nvPr/>
        </p:nvSpPr>
        <p:spPr>
          <a:xfrm>
            <a:off x="457200" y="4800600"/>
            <a:ext cx="8229600" cy="320040"/>
          </a:xfrm>
          <a:prstGeom prst="rect">
            <a:avLst/>
          </a:prstGeom>
          <a:noFill/>
          <a:ln/>
        </p:spPr>
        <p:txBody>
          <a:bodyPr wrap="square" lIns="0" tIns="0" rIns="0" bIns="0" rtlCol="0" anchor="ctr"/>
          <a:lstStyle/>
          <a:p>
            <a:pPr indent="0" marL="0">
              <a:buNone/>
            </a:pPr>
            <a:r>
              <a:rPr lang="en-US" sz="1050" dirty="0">
                <a:solidFill>
                  <a:srgbClr val="1E293B"/>
                </a:solidFill>
              </a:rPr>
              <a:t>• Precision@K — top-3 hint precision: 0.8917</a:t>
            </a:r>
            <a:endParaRPr lang="en-US" sz="1050" dirty="0"/>
          </a:p>
        </p:txBody>
      </p:sp>
      <p:sp>
        <p:nvSpPr>
          <p:cNvPr id="33" name="Shape 31"/>
          <p:cNvSpPr/>
          <p:nvPr/>
        </p:nvSpPr>
        <p:spPr>
          <a:xfrm>
            <a:off x="320040" y="5129784"/>
            <a:ext cx="8503920" cy="347472"/>
          </a:xfrm>
          <a:prstGeom prst="rect">
            <a:avLst/>
          </a:prstGeom>
          <a:solidFill>
            <a:srgbClr val="FFFFFF"/>
          </a:solidFill>
          <a:ln w="6350">
            <a:solidFill>
              <a:srgbClr val="E8EDF5"/>
            </a:solidFill>
            <a:prstDash val="solid"/>
          </a:ln>
        </p:spPr>
      </p:sp>
      <p:sp>
        <p:nvSpPr>
          <p:cNvPr id="34" name="Text 32"/>
          <p:cNvSpPr/>
          <p:nvPr/>
        </p:nvSpPr>
        <p:spPr>
          <a:xfrm>
            <a:off x="457200" y="5148072"/>
            <a:ext cx="8229600" cy="320040"/>
          </a:xfrm>
          <a:prstGeom prst="rect">
            <a:avLst/>
          </a:prstGeom>
          <a:noFill/>
          <a:ln/>
        </p:spPr>
        <p:txBody>
          <a:bodyPr wrap="square" lIns="0" tIns="0" rIns="0" bIns="0" rtlCol="0" anchor="ctr"/>
          <a:lstStyle/>
          <a:p>
            <a:pPr indent="0" marL="0">
              <a:buNone/>
            </a:pPr>
            <a:r>
              <a:rPr lang="en-US" sz="1050" dirty="0">
                <a:solidFill>
                  <a:srgbClr val="1E293B"/>
                </a:solidFill>
              </a:rPr>
              <a:t>• R² Score — Ridge regressor sentence relevance: near 1.0 (labels from feature definition)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Unsupervised &amp; Semi-Supervised Learning — Deep Dive</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12 / 15</a:t>
            </a:r>
            <a:endParaRPr lang="en-US" sz="800" dirty="0"/>
          </a:p>
        </p:txBody>
      </p:sp>
      <p:graphicFrame>
        <p:nvGraphicFramePr>
          <p:cNvPr id="7" name="Chart 0" descr=""/>
          <p:cNvGraphicFramePr/>
          <p:nvPr/>
        </p:nvGraphicFramePr>
        <p:xfrm>
          <a:off x="320040" y="886968"/>
          <a:ext cx="4023360" cy="21945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4663440" y="886968"/>
            <a:ext cx="4160520" cy="274320"/>
          </a:xfrm>
          <a:prstGeom prst="rect">
            <a:avLst/>
          </a:prstGeom>
          <a:noFill/>
          <a:ln/>
        </p:spPr>
        <p:txBody>
          <a:bodyPr wrap="square" rtlCol="0" anchor="ctr"/>
          <a:lstStyle/>
          <a:p>
            <a:pPr indent="0" marL="0">
              <a:buNone/>
            </a:pPr>
            <a:r>
              <a:rPr lang="en-US" sz="1300" b="1" dirty="0">
                <a:solidFill>
                  <a:srgbClr val="2563A8"/>
                </a:solidFill>
              </a:rPr>
              <a:t>Label Propagation Process</a:t>
            </a:r>
            <a:endParaRPr lang="en-US" sz="1300" dirty="0"/>
          </a:p>
        </p:txBody>
      </p:sp>
      <p:sp>
        <p:nvSpPr>
          <p:cNvPr id="9" name="Shape 6"/>
          <p:cNvSpPr/>
          <p:nvPr/>
        </p:nvSpPr>
        <p:spPr>
          <a:xfrm>
            <a:off x="4663440" y="1216152"/>
            <a:ext cx="347472" cy="457200"/>
          </a:xfrm>
          <a:prstGeom prst="rect">
            <a:avLst/>
          </a:prstGeom>
          <a:solidFill>
            <a:srgbClr val="1A2B4A"/>
          </a:solidFill>
          <a:ln w="12700">
            <a:solidFill>
              <a:srgbClr val="1A2B4A"/>
            </a:solidFill>
            <a:prstDash val="solid"/>
          </a:ln>
        </p:spPr>
      </p:sp>
      <p:sp>
        <p:nvSpPr>
          <p:cNvPr id="10" name="Text 7"/>
          <p:cNvSpPr/>
          <p:nvPr/>
        </p:nvSpPr>
        <p:spPr>
          <a:xfrm>
            <a:off x="4663440" y="1216152"/>
            <a:ext cx="347472" cy="45720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Shape 8"/>
          <p:cNvSpPr/>
          <p:nvPr/>
        </p:nvSpPr>
        <p:spPr>
          <a:xfrm>
            <a:off x="5029200" y="1216152"/>
            <a:ext cx="3794760" cy="457200"/>
          </a:xfrm>
          <a:prstGeom prst="rect">
            <a:avLst/>
          </a:prstGeom>
          <a:solidFill>
            <a:srgbClr val="F4F7FB"/>
          </a:solidFill>
          <a:ln w="9525">
            <a:solidFill>
              <a:srgbClr val="E8EDF5"/>
            </a:solidFill>
            <a:prstDash val="solid"/>
          </a:ln>
        </p:spPr>
      </p:sp>
      <p:sp>
        <p:nvSpPr>
          <p:cNvPr id="12" name="Text 9"/>
          <p:cNvSpPr/>
          <p:nvPr/>
        </p:nvSpPr>
        <p:spPr>
          <a:xfrm>
            <a:off x="5120640" y="1216152"/>
            <a:ext cx="3657600" cy="457200"/>
          </a:xfrm>
          <a:prstGeom prst="rect">
            <a:avLst/>
          </a:prstGeom>
          <a:noFill/>
          <a:ln/>
        </p:spPr>
        <p:txBody>
          <a:bodyPr wrap="square" lIns="0" tIns="0" rIns="0" bIns="0" rtlCol="0" anchor="ctr"/>
          <a:lstStyle/>
          <a:p>
            <a:pPr indent="0" marL="0">
              <a:buNone/>
            </a:pPr>
            <a:r>
              <a:rPr lang="en-US" sz="1100" dirty="0">
                <a:solidFill>
                  <a:srgbClr val="1E293B"/>
                </a:solidFill>
              </a:rPr>
              <a:t>TF-IDF features → TruncatedSVD (200 dims)</a:t>
            </a:r>
            <a:endParaRPr lang="en-US" sz="1100" dirty="0"/>
          </a:p>
        </p:txBody>
      </p:sp>
      <p:sp>
        <p:nvSpPr>
          <p:cNvPr id="13" name="Shape 10"/>
          <p:cNvSpPr/>
          <p:nvPr/>
        </p:nvSpPr>
        <p:spPr>
          <a:xfrm>
            <a:off x="4663440" y="1801368"/>
            <a:ext cx="347472" cy="457200"/>
          </a:xfrm>
          <a:prstGeom prst="rect">
            <a:avLst/>
          </a:prstGeom>
          <a:solidFill>
            <a:srgbClr val="2563A8"/>
          </a:solidFill>
          <a:ln w="12700">
            <a:solidFill>
              <a:srgbClr val="2563A8"/>
            </a:solidFill>
            <a:prstDash val="solid"/>
          </a:ln>
        </p:spPr>
      </p:sp>
      <p:sp>
        <p:nvSpPr>
          <p:cNvPr id="14" name="Text 11"/>
          <p:cNvSpPr/>
          <p:nvPr/>
        </p:nvSpPr>
        <p:spPr>
          <a:xfrm>
            <a:off x="4663440" y="1801368"/>
            <a:ext cx="347472" cy="45720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5" name="Shape 12"/>
          <p:cNvSpPr/>
          <p:nvPr/>
        </p:nvSpPr>
        <p:spPr>
          <a:xfrm>
            <a:off x="5029200" y="1801368"/>
            <a:ext cx="3794760" cy="457200"/>
          </a:xfrm>
          <a:prstGeom prst="rect">
            <a:avLst/>
          </a:prstGeom>
          <a:solidFill>
            <a:srgbClr val="F4F7FB"/>
          </a:solidFill>
          <a:ln w="9525">
            <a:solidFill>
              <a:srgbClr val="E8EDF5"/>
            </a:solidFill>
            <a:prstDash val="solid"/>
          </a:ln>
        </p:spPr>
      </p:sp>
      <p:sp>
        <p:nvSpPr>
          <p:cNvPr id="16" name="Text 13"/>
          <p:cNvSpPr/>
          <p:nvPr/>
        </p:nvSpPr>
        <p:spPr>
          <a:xfrm>
            <a:off x="5120640" y="1801368"/>
            <a:ext cx="3657600" cy="457200"/>
          </a:xfrm>
          <a:prstGeom prst="rect">
            <a:avLst/>
          </a:prstGeom>
          <a:noFill/>
          <a:ln/>
        </p:spPr>
        <p:txBody>
          <a:bodyPr wrap="square" lIns="0" tIns="0" rIns="0" bIns="0" rtlCol="0" anchor="ctr"/>
          <a:lstStyle/>
          <a:p>
            <a:pPr indent="0" marL="0">
              <a:buNone/>
            </a:pPr>
            <a:r>
              <a:rPr lang="en-US" sz="1100" dirty="0">
                <a:solidFill>
                  <a:srgbClr val="1E293B"/>
                </a:solidFill>
              </a:rPr>
              <a:t>k-NN graph built in reduced feature space</a:t>
            </a:r>
            <a:endParaRPr lang="en-US" sz="1100" dirty="0"/>
          </a:p>
        </p:txBody>
      </p:sp>
      <p:sp>
        <p:nvSpPr>
          <p:cNvPr id="17" name="Shape 14"/>
          <p:cNvSpPr/>
          <p:nvPr/>
        </p:nvSpPr>
        <p:spPr>
          <a:xfrm>
            <a:off x="4663440" y="2386584"/>
            <a:ext cx="347472" cy="457200"/>
          </a:xfrm>
          <a:prstGeom prst="rect">
            <a:avLst/>
          </a:prstGeom>
          <a:solidFill>
            <a:srgbClr val="0D8A8A"/>
          </a:solidFill>
          <a:ln w="12700">
            <a:solidFill>
              <a:srgbClr val="0D8A8A"/>
            </a:solidFill>
            <a:prstDash val="solid"/>
          </a:ln>
        </p:spPr>
      </p:sp>
      <p:sp>
        <p:nvSpPr>
          <p:cNvPr id="18" name="Text 15"/>
          <p:cNvSpPr/>
          <p:nvPr/>
        </p:nvSpPr>
        <p:spPr>
          <a:xfrm>
            <a:off x="4663440" y="2386584"/>
            <a:ext cx="347472" cy="45720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Shape 16"/>
          <p:cNvSpPr/>
          <p:nvPr/>
        </p:nvSpPr>
        <p:spPr>
          <a:xfrm>
            <a:off x="5029200" y="2386584"/>
            <a:ext cx="3794760" cy="457200"/>
          </a:xfrm>
          <a:prstGeom prst="rect">
            <a:avLst/>
          </a:prstGeom>
          <a:solidFill>
            <a:srgbClr val="F4F7FB"/>
          </a:solidFill>
          <a:ln w="9525">
            <a:solidFill>
              <a:srgbClr val="E8EDF5"/>
            </a:solidFill>
            <a:prstDash val="solid"/>
          </a:ln>
        </p:spPr>
      </p:sp>
      <p:sp>
        <p:nvSpPr>
          <p:cNvPr id="20" name="Text 17"/>
          <p:cNvSpPr/>
          <p:nvPr/>
        </p:nvSpPr>
        <p:spPr>
          <a:xfrm>
            <a:off x="5120640" y="2386584"/>
            <a:ext cx="3657600" cy="457200"/>
          </a:xfrm>
          <a:prstGeom prst="rect">
            <a:avLst/>
          </a:prstGeom>
          <a:noFill/>
          <a:ln/>
        </p:spPr>
        <p:txBody>
          <a:bodyPr wrap="square" lIns="0" tIns="0" rIns="0" bIns="0" rtlCol="0" anchor="ctr"/>
          <a:lstStyle/>
          <a:p>
            <a:pPr indent="0" marL="0">
              <a:buNone/>
            </a:pPr>
            <a:r>
              <a:rPr lang="en-US" sz="1100" dirty="0">
                <a:solidFill>
                  <a:srgbClr val="1E293B"/>
                </a:solidFill>
              </a:rPr>
              <a:t>20% randomly sampled as labeled seeds</a:t>
            </a:r>
            <a:endParaRPr lang="en-US" sz="1100" dirty="0"/>
          </a:p>
        </p:txBody>
      </p:sp>
      <p:sp>
        <p:nvSpPr>
          <p:cNvPr id="21" name="Shape 18"/>
          <p:cNvSpPr/>
          <p:nvPr/>
        </p:nvSpPr>
        <p:spPr>
          <a:xfrm>
            <a:off x="4663440" y="2971800"/>
            <a:ext cx="347472" cy="457200"/>
          </a:xfrm>
          <a:prstGeom prst="rect">
            <a:avLst/>
          </a:prstGeom>
          <a:solidFill>
            <a:srgbClr val="059669"/>
          </a:solidFill>
          <a:ln w="12700">
            <a:solidFill>
              <a:srgbClr val="059669"/>
            </a:solidFill>
            <a:prstDash val="solid"/>
          </a:ln>
        </p:spPr>
      </p:sp>
      <p:sp>
        <p:nvSpPr>
          <p:cNvPr id="22" name="Text 19"/>
          <p:cNvSpPr/>
          <p:nvPr/>
        </p:nvSpPr>
        <p:spPr>
          <a:xfrm>
            <a:off x="4663440" y="2971800"/>
            <a:ext cx="347472" cy="45720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3" name="Shape 20"/>
          <p:cNvSpPr/>
          <p:nvPr/>
        </p:nvSpPr>
        <p:spPr>
          <a:xfrm>
            <a:off x="5029200" y="2971800"/>
            <a:ext cx="3794760" cy="457200"/>
          </a:xfrm>
          <a:prstGeom prst="rect">
            <a:avLst/>
          </a:prstGeom>
          <a:solidFill>
            <a:srgbClr val="F4F7FB"/>
          </a:solidFill>
          <a:ln w="9525">
            <a:solidFill>
              <a:srgbClr val="E8EDF5"/>
            </a:solidFill>
            <a:prstDash val="solid"/>
          </a:ln>
        </p:spPr>
      </p:sp>
      <p:sp>
        <p:nvSpPr>
          <p:cNvPr id="24" name="Text 21"/>
          <p:cNvSpPr/>
          <p:nvPr/>
        </p:nvSpPr>
        <p:spPr>
          <a:xfrm>
            <a:off x="5120640" y="2971800"/>
            <a:ext cx="3657600" cy="457200"/>
          </a:xfrm>
          <a:prstGeom prst="rect">
            <a:avLst/>
          </a:prstGeom>
          <a:noFill/>
          <a:ln/>
        </p:spPr>
        <p:txBody>
          <a:bodyPr wrap="square" lIns="0" tIns="0" rIns="0" bIns="0" rtlCol="0" anchor="ctr"/>
          <a:lstStyle/>
          <a:p>
            <a:pPr indent="0" marL="0">
              <a:buNone/>
            </a:pPr>
            <a:r>
              <a:rPr lang="en-US" sz="1100" dirty="0">
                <a:solidFill>
                  <a:srgbClr val="1E293B"/>
                </a:solidFill>
              </a:rPr>
              <a:t>Labels propagate to 80% unlabeled via manifold</a:t>
            </a:r>
            <a:endParaRPr lang="en-US" sz="1100" dirty="0"/>
          </a:p>
        </p:txBody>
      </p:sp>
      <p:sp>
        <p:nvSpPr>
          <p:cNvPr id="25" name="Shape 22"/>
          <p:cNvSpPr/>
          <p:nvPr/>
        </p:nvSpPr>
        <p:spPr>
          <a:xfrm>
            <a:off x="4663440" y="3557016"/>
            <a:ext cx="347472" cy="457200"/>
          </a:xfrm>
          <a:prstGeom prst="rect">
            <a:avLst/>
          </a:prstGeom>
          <a:solidFill>
            <a:srgbClr val="D09E0B"/>
          </a:solidFill>
          <a:ln w="12700">
            <a:solidFill>
              <a:srgbClr val="D09E0B"/>
            </a:solidFill>
            <a:prstDash val="solid"/>
          </a:ln>
        </p:spPr>
      </p:sp>
      <p:sp>
        <p:nvSpPr>
          <p:cNvPr id="26" name="Text 23"/>
          <p:cNvSpPr/>
          <p:nvPr/>
        </p:nvSpPr>
        <p:spPr>
          <a:xfrm>
            <a:off x="4663440" y="3557016"/>
            <a:ext cx="347472" cy="45720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7" name="Shape 24"/>
          <p:cNvSpPr/>
          <p:nvPr/>
        </p:nvSpPr>
        <p:spPr>
          <a:xfrm>
            <a:off x="5029200" y="3557016"/>
            <a:ext cx="3794760" cy="457200"/>
          </a:xfrm>
          <a:prstGeom prst="rect">
            <a:avLst/>
          </a:prstGeom>
          <a:solidFill>
            <a:srgbClr val="F4F7FB"/>
          </a:solidFill>
          <a:ln w="9525">
            <a:solidFill>
              <a:srgbClr val="E8EDF5"/>
            </a:solidFill>
            <a:prstDash val="solid"/>
          </a:ln>
        </p:spPr>
      </p:sp>
      <p:sp>
        <p:nvSpPr>
          <p:cNvPr id="28" name="Text 25"/>
          <p:cNvSpPr/>
          <p:nvPr/>
        </p:nvSpPr>
        <p:spPr>
          <a:xfrm>
            <a:off x="5120640" y="3557016"/>
            <a:ext cx="3657600" cy="457200"/>
          </a:xfrm>
          <a:prstGeom prst="rect">
            <a:avLst/>
          </a:prstGeom>
          <a:noFill/>
          <a:ln/>
        </p:spPr>
        <p:txBody>
          <a:bodyPr wrap="square" lIns="0" tIns="0" rIns="0" bIns="0" rtlCol="0" anchor="ctr"/>
          <a:lstStyle/>
          <a:p>
            <a:pPr indent="0" marL="0">
              <a:buNone/>
            </a:pPr>
            <a:r>
              <a:rPr lang="en-US" sz="1100" dirty="0">
                <a:solidFill>
                  <a:srgbClr val="1E293B"/>
                </a:solidFill>
              </a:rPr>
              <a:t>Result: 72.30% accuracy · Macro F1 = 0.652</a:t>
            </a:r>
            <a:endParaRPr lang="en-US" sz="1100" dirty="0"/>
          </a:p>
        </p:txBody>
      </p:sp>
      <p:sp>
        <p:nvSpPr>
          <p:cNvPr id="29" name="Shape 26"/>
          <p:cNvSpPr/>
          <p:nvPr/>
        </p:nvSpPr>
        <p:spPr>
          <a:xfrm>
            <a:off x="320040" y="3182112"/>
            <a:ext cx="8503920" cy="1527048"/>
          </a:xfrm>
          <a:prstGeom prst="rect">
            <a:avLst/>
          </a:prstGeom>
          <a:solidFill>
            <a:srgbClr val="ECFDF5"/>
          </a:solidFill>
          <a:ln w="19050">
            <a:solidFill>
              <a:srgbClr val="059669"/>
            </a:solidFill>
            <a:prstDash val="solid"/>
          </a:ln>
        </p:spPr>
      </p:sp>
      <p:sp>
        <p:nvSpPr>
          <p:cNvPr id="30" name="Text 27"/>
          <p:cNvSpPr/>
          <p:nvPr/>
        </p:nvSpPr>
        <p:spPr>
          <a:xfrm>
            <a:off x="457200" y="3236976"/>
            <a:ext cx="8229600" cy="274320"/>
          </a:xfrm>
          <a:prstGeom prst="rect">
            <a:avLst/>
          </a:prstGeom>
          <a:noFill/>
          <a:ln/>
        </p:spPr>
        <p:txBody>
          <a:bodyPr wrap="square" rtlCol="0" anchor="ctr"/>
          <a:lstStyle/>
          <a:p>
            <a:pPr indent="0" marL="0">
              <a:buNone/>
            </a:pPr>
            <a:r>
              <a:rPr lang="en-US" sz="1200" b="1" dirty="0">
                <a:solidFill>
                  <a:srgbClr val="065F46"/>
                </a:solidFill>
              </a:rPr>
              <a:t>Key Interpretation</a:t>
            </a:r>
            <a:endParaRPr lang="en-US" sz="1200" dirty="0"/>
          </a:p>
        </p:txBody>
      </p:sp>
      <p:sp>
        <p:nvSpPr>
          <p:cNvPr id="31" name="Text 28"/>
          <p:cNvSpPr/>
          <p:nvPr/>
        </p:nvSpPr>
        <p:spPr>
          <a:xfrm>
            <a:off x="457200" y="3520440"/>
            <a:ext cx="8229600" cy="1097280"/>
          </a:xfrm>
          <a:prstGeom prst="rect">
            <a:avLst/>
          </a:prstGeom>
          <a:noFill/>
          <a:ln/>
        </p:spPr>
        <p:txBody>
          <a:bodyPr wrap="square" rtlCol="0" anchor="ctr"/>
          <a:lstStyle/>
          <a:p>
            <a:pPr marL="342900" indent="-342900">
              <a:buSzPct val="100000"/>
              <a:buChar char="•"/>
            </a:pPr>
            <a:r>
              <a:rPr lang="en-US" sz="1350" dirty="0">
                <a:solidFill>
                  <a:srgbClr val="1E293B"/>
                </a:solidFill>
              </a:rPr>
              <a:t>K-Means &amp; GMM silhouette scores ≈ 0 → TF-IDF space has no natural correct/incorrect cluster separation</a:t>
            </a:r>
            <a:endParaRPr lang="en-US" sz="1350" dirty="0"/>
          </a:p>
          <a:p>
            <a:pPr marL="342900" indent="-342900">
              <a:buSzPct val="100000"/>
              <a:buChar char="•"/>
            </a:pPr>
            <a:r>
              <a:rPr lang="en-US" sz="1350" dirty="0">
                <a:solidFill>
                  <a:srgbClr val="1E293B"/>
                </a:solidFill>
              </a:rPr>
              <a:t>This is expected: correct and incorrect options are deliberately designed to look similar (plausible distractors)</a:t>
            </a:r>
            <a:endParaRPr lang="en-US" sz="1350" dirty="0"/>
          </a:p>
          <a:p>
            <a:pPr marL="342900" indent="-342900">
              <a:buSzPct val="100000"/>
              <a:buChar char="•"/>
            </a:pPr>
            <a:r>
              <a:rPr lang="en-US" sz="1350" dirty="0">
                <a:solidFill>
                  <a:srgbClr val="1E293B"/>
                </a:solidFill>
              </a:rPr>
              <a:t>Label Propagation exploits the manifold structure without requiring all labels → best result overall</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User Interface — Streamlit Four-Screen Application</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13 / 15</a:t>
            </a:r>
            <a:endParaRPr lang="en-US" sz="800" dirty="0"/>
          </a:p>
        </p:txBody>
      </p:sp>
      <p:sp>
        <p:nvSpPr>
          <p:cNvPr id="7" name="Shape 5"/>
          <p:cNvSpPr/>
          <p:nvPr/>
        </p:nvSpPr>
        <p:spPr>
          <a:xfrm>
            <a:off x="320040" y="886968"/>
            <a:ext cx="4206240" cy="1828800"/>
          </a:xfrm>
          <a:prstGeom prst="rect">
            <a:avLst/>
          </a:prstGeom>
          <a:solidFill>
            <a:srgbClr val="F4F7FB"/>
          </a:solidFill>
          <a:ln w="19050">
            <a:solidFill>
              <a:srgbClr val="0D8A8A"/>
            </a:solidFill>
            <a:prstDash val="solid"/>
          </a:ln>
        </p:spPr>
      </p:sp>
      <p:sp>
        <p:nvSpPr>
          <p:cNvPr id="8" name="Shape 6"/>
          <p:cNvSpPr/>
          <p:nvPr/>
        </p:nvSpPr>
        <p:spPr>
          <a:xfrm>
            <a:off x="320040" y="886968"/>
            <a:ext cx="640080" cy="1828800"/>
          </a:xfrm>
          <a:prstGeom prst="rect">
            <a:avLst/>
          </a:prstGeom>
          <a:solidFill>
            <a:srgbClr val="0D8A8A"/>
          </a:solidFill>
          <a:ln w="12700">
            <a:solidFill>
              <a:srgbClr val="0D8A8A"/>
            </a:solidFill>
            <a:prstDash val="solid"/>
          </a:ln>
        </p:spPr>
      </p:sp>
      <p:sp>
        <p:nvSpPr>
          <p:cNvPr id="9" name="Text 7"/>
          <p:cNvSpPr/>
          <p:nvPr/>
        </p:nvSpPr>
        <p:spPr>
          <a:xfrm>
            <a:off x="320040" y="886968"/>
            <a:ext cx="640080" cy="1828800"/>
          </a:xfrm>
          <a:prstGeom prst="rect">
            <a:avLst/>
          </a:prstGeom>
          <a:noFill/>
          <a:ln/>
        </p:spPr>
        <p:txBody>
          <a:bodyPr wrap="square" lIns="0" tIns="0" rIns="0" bIns="0" rtlCol="0" anchor="ctr"/>
          <a:lstStyle/>
          <a:p>
            <a:pPr algn="ctr" indent="0" marL="0">
              <a:buNone/>
            </a:pPr>
            <a:r>
              <a:rPr lang="en-US" sz="2000" b="1" dirty="0">
                <a:solidFill>
                  <a:srgbClr val="FFFFFF"/>
                </a:solidFill>
              </a:rPr>
              <a:t>01</a:t>
            </a:r>
            <a:endParaRPr lang="en-US" sz="2000" dirty="0"/>
          </a:p>
        </p:txBody>
      </p:sp>
      <p:sp>
        <p:nvSpPr>
          <p:cNvPr id="10" name="Text 8"/>
          <p:cNvSpPr/>
          <p:nvPr/>
        </p:nvSpPr>
        <p:spPr>
          <a:xfrm>
            <a:off x="978408" y="996696"/>
            <a:ext cx="3429000" cy="256032"/>
          </a:xfrm>
          <a:prstGeom prst="rect">
            <a:avLst/>
          </a:prstGeom>
          <a:noFill/>
          <a:ln/>
        </p:spPr>
        <p:txBody>
          <a:bodyPr wrap="square" lIns="0" tIns="0" rIns="0" bIns="0" rtlCol="0" anchor="ctr"/>
          <a:lstStyle/>
          <a:p>
            <a:pPr indent="0" marL="0">
              <a:buNone/>
            </a:pPr>
            <a:r>
              <a:rPr lang="en-US" sz="950" dirty="0">
                <a:solidFill>
                  <a:srgbClr val="64748B"/>
                </a:solidFill>
              </a:rPr>
              <a:t>Screen</a:t>
            </a:r>
            <a:endParaRPr lang="en-US" sz="950" dirty="0"/>
          </a:p>
        </p:txBody>
      </p:sp>
      <p:sp>
        <p:nvSpPr>
          <p:cNvPr id="11" name="Text 9"/>
          <p:cNvSpPr/>
          <p:nvPr/>
        </p:nvSpPr>
        <p:spPr>
          <a:xfrm>
            <a:off x="978408" y="1234440"/>
            <a:ext cx="3429000" cy="347472"/>
          </a:xfrm>
          <a:prstGeom prst="rect">
            <a:avLst/>
          </a:prstGeom>
          <a:noFill/>
          <a:ln/>
        </p:spPr>
        <p:txBody>
          <a:bodyPr wrap="square" lIns="0" tIns="0" rIns="0" bIns="0" rtlCol="0" anchor="ctr"/>
          <a:lstStyle/>
          <a:p>
            <a:pPr indent="0" marL="0">
              <a:buNone/>
            </a:pPr>
            <a:r>
              <a:rPr lang="en-US" sz="1600" b="1" dirty="0">
                <a:solidFill>
                  <a:srgbClr val="1E293B"/>
                </a:solidFill>
              </a:rPr>
              <a:t>Article Input</a:t>
            </a:r>
            <a:endParaRPr lang="en-US" sz="1600" dirty="0"/>
          </a:p>
        </p:txBody>
      </p:sp>
      <p:sp>
        <p:nvSpPr>
          <p:cNvPr id="12" name="Text 10"/>
          <p:cNvSpPr/>
          <p:nvPr/>
        </p:nvSpPr>
        <p:spPr>
          <a:xfrm>
            <a:off x="978408" y="1636776"/>
            <a:ext cx="3429000" cy="1005840"/>
          </a:xfrm>
          <a:prstGeom prst="rect">
            <a:avLst/>
          </a:prstGeom>
          <a:noFill/>
          <a:ln/>
        </p:spPr>
        <p:txBody>
          <a:bodyPr wrap="square" lIns="0" tIns="0" rIns="0" bIns="0" rtlCol="0" anchor="ctr"/>
          <a:lstStyle/>
          <a:p>
            <a:pPr indent="0" marL="0">
              <a:buNone/>
            </a:pPr>
            <a:r>
              <a:rPr lang="en-US" sz="1100" dirty="0">
                <a:solidFill>
                  <a:srgbClr val="1E293B"/>
                </a:solidFill>
              </a:rPr>
              <a:t>Paste passage or load random RACE sample · Submit triggers both models</a:t>
            </a:r>
            <a:endParaRPr lang="en-US" sz="1100" dirty="0"/>
          </a:p>
        </p:txBody>
      </p:sp>
      <p:sp>
        <p:nvSpPr>
          <p:cNvPr id="13" name="Shape 11"/>
          <p:cNvSpPr/>
          <p:nvPr/>
        </p:nvSpPr>
        <p:spPr>
          <a:xfrm>
            <a:off x="4754880" y="886968"/>
            <a:ext cx="4206240" cy="1828800"/>
          </a:xfrm>
          <a:prstGeom prst="rect">
            <a:avLst/>
          </a:prstGeom>
          <a:solidFill>
            <a:srgbClr val="F4F7FB"/>
          </a:solidFill>
          <a:ln w="19050">
            <a:solidFill>
              <a:srgbClr val="2563A8"/>
            </a:solidFill>
            <a:prstDash val="solid"/>
          </a:ln>
        </p:spPr>
      </p:sp>
      <p:sp>
        <p:nvSpPr>
          <p:cNvPr id="14" name="Shape 12"/>
          <p:cNvSpPr/>
          <p:nvPr/>
        </p:nvSpPr>
        <p:spPr>
          <a:xfrm>
            <a:off x="4754880" y="886968"/>
            <a:ext cx="640080" cy="1828800"/>
          </a:xfrm>
          <a:prstGeom prst="rect">
            <a:avLst/>
          </a:prstGeom>
          <a:solidFill>
            <a:srgbClr val="2563A8"/>
          </a:solidFill>
          <a:ln w="12700">
            <a:solidFill>
              <a:srgbClr val="2563A8"/>
            </a:solidFill>
            <a:prstDash val="solid"/>
          </a:ln>
        </p:spPr>
      </p:sp>
      <p:sp>
        <p:nvSpPr>
          <p:cNvPr id="15" name="Text 13"/>
          <p:cNvSpPr/>
          <p:nvPr/>
        </p:nvSpPr>
        <p:spPr>
          <a:xfrm>
            <a:off x="4754880" y="886968"/>
            <a:ext cx="640080" cy="1828800"/>
          </a:xfrm>
          <a:prstGeom prst="rect">
            <a:avLst/>
          </a:prstGeom>
          <a:noFill/>
          <a:ln/>
        </p:spPr>
        <p:txBody>
          <a:bodyPr wrap="square" lIns="0" tIns="0" rIns="0" bIns="0" rtlCol="0" anchor="ctr"/>
          <a:lstStyle/>
          <a:p>
            <a:pPr algn="ctr" indent="0" marL="0">
              <a:buNone/>
            </a:pPr>
            <a:r>
              <a:rPr lang="en-US" sz="2000" b="1" dirty="0">
                <a:solidFill>
                  <a:srgbClr val="FFFFFF"/>
                </a:solidFill>
              </a:rPr>
              <a:t>02</a:t>
            </a:r>
            <a:endParaRPr lang="en-US" sz="2000" dirty="0"/>
          </a:p>
        </p:txBody>
      </p:sp>
      <p:sp>
        <p:nvSpPr>
          <p:cNvPr id="16" name="Text 14"/>
          <p:cNvSpPr/>
          <p:nvPr/>
        </p:nvSpPr>
        <p:spPr>
          <a:xfrm>
            <a:off x="5413248" y="996696"/>
            <a:ext cx="3429000" cy="256032"/>
          </a:xfrm>
          <a:prstGeom prst="rect">
            <a:avLst/>
          </a:prstGeom>
          <a:noFill/>
          <a:ln/>
        </p:spPr>
        <p:txBody>
          <a:bodyPr wrap="square" lIns="0" tIns="0" rIns="0" bIns="0" rtlCol="0" anchor="ctr"/>
          <a:lstStyle/>
          <a:p>
            <a:pPr indent="0" marL="0">
              <a:buNone/>
            </a:pPr>
            <a:r>
              <a:rPr lang="en-US" sz="950" dirty="0">
                <a:solidFill>
                  <a:srgbClr val="64748B"/>
                </a:solidFill>
              </a:rPr>
              <a:t>Screen</a:t>
            </a:r>
            <a:endParaRPr lang="en-US" sz="950" dirty="0"/>
          </a:p>
        </p:txBody>
      </p:sp>
      <p:sp>
        <p:nvSpPr>
          <p:cNvPr id="17" name="Text 15"/>
          <p:cNvSpPr/>
          <p:nvPr/>
        </p:nvSpPr>
        <p:spPr>
          <a:xfrm>
            <a:off x="5413248" y="1234440"/>
            <a:ext cx="3429000" cy="347472"/>
          </a:xfrm>
          <a:prstGeom prst="rect">
            <a:avLst/>
          </a:prstGeom>
          <a:noFill/>
          <a:ln/>
        </p:spPr>
        <p:txBody>
          <a:bodyPr wrap="square" lIns="0" tIns="0" rIns="0" bIns="0" rtlCol="0" anchor="ctr"/>
          <a:lstStyle/>
          <a:p>
            <a:pPr indent="0" marL="0">
              <a:buNone/>
            </a:pPr>
            <a:r>
              <a:rPr lang="en-US" sz="1600" b="1" dirty="0">
                <a:solidFill>
                  <a:srgbClr val="1E293B"/>
                </a:solidFill>
              </a:rPr>
              <a:t>Quiz View</a:t>
            </a:r>
            <a:endParaRPr lang="en-US" sz="1600" dirty="0"/>
          </a:p>
        </p:txBody>
      </p:sp>
      <p:sp>
        <p:nvSpPr>
          <p:cNvPr id="18" name="Text 16"/>
          <p:cNvSpPr/>
          <p:nvPr/>
        </p:nvSpPr>
        <p:spPr>
          <a:xfrm>
            <a:off x="5413248" y="1636776"/>
            <a:ext cx="3429000" cy="1005840"/>
          </a:xfrm>
          <a:prstGeom prst="rect">
            <a:avLst/>
          </a:prstGeom>
          <a:noFill/>
          <a:ln/>
        </p:spPr>
        <p:txBody>
          <a:bodyPr wrap="square" lIns="0" tIns="0" rIns="0" bIns="0" rtlCol="0" anchor="ctr"/>
          <a:lstStyle/>
          <a:p>
            <a:pPr indent="0" marL="0">
              <a:buNone/>
            </a:pPr>
            <a:r>
              <a:rPr lang="en-US" sz="1100" dirty="0">
                <a:solidFill>
                  <a:srgbClr val="1E293B"/>
                </a:solidFill>
              </a:rPr>
              <a:t>Generated question · 4 options (A–D) · Color-coded result on Check click</a:t>
            </a:r>
            <a:endParaRPr lang="en-US" sz="1100" dirty="0"/>
          </a:p>
        </p:txBody>
      </p:sp>
      <p:sp>
        <p:nvSpPr>
          <p:cNvPr id="19" name="Shape 17"/>
          <p:cNvSpPr/>
          <p:nvPr/>
        </p:nvSpPr>
        <p:spPr>
          <a:xfrm>
            <a:off x="320040" y="2834640"/>
            <a:ext cx="4206240" cy="1828800"/>
          </a:xfrm>
          <a:prstGeom prst="rect">
            <a:avLst/>
          </a:prstGeom>
          <a:solidFill>
            <a:srgbClr val="F4F7FB"/>
          </a:solidFill>
          <a:ln w="19050">
            <a:solidFill>
              <a:srgbClr val="1A2B4A"/>
            </a:solidFill>
            <a:prstDash val="solid"/>
          </a:ln>
        </p:spPr>
      </p:sp>
      <p:sp>
        <p:nvSpPr>
          <p:cNvPr id="20" name="Shape 18"/>
          <p:cNvSpPr/>
          <p:nvPr/>
        </p:nvSpPr>
        <p:spPr>
          <a:xfrm>
            <a:off x="320040" y="2834640"/>
            <a:ext cx="640080" cy="1828800"/>
          </a:xfrm>
          <a:prstGeom prst="rect">
            <a:avLst/>
          </a:prstGeom>
          <a:solidFill>
            <a:srgbClr val="1A2B4A"/>
          </a:solidFill>
          <a:ln w="12700">
            <a:solidFill>
              <a:srgbClr val="1A2B4A"/>
            </a:solidFill>
            <a:prstDash val="solid"/>
          </a:ln>
        </p:spPr>
      </p:sp>
      <p:sp>
        <p:nvSpPr>
          <p:cNvPr id="21" name="Text 19"/>
          <p:cNvSpPr/>
          <p:nvPr/>
        </p:nvSpPr>
        <p:spPr>
          <a:xfrm>
            <a:off x="320040" y="2834640"/>
            <a:ext cx="640080" cy="1828800"/>
          </a:xfrm>
          <a:prstGeom prst="rect">
            <a:avLst/>
          </a:prstGeom>
          <a:noFill/>
          <a:ln/>
        </p:spPr>
        <p:txBody>
          <a:bodyPr wrap="square" lIns="0" tIns="0" rIns="0" bIns="0" rtlCol="0" anchor="ctr"/>
          <a:lstStyle/>
          <a:p>
            <a:pPr algn="ctr" indent="0" marL="0">
              <a:buNone/>
            </a:pPr>
            <a:r>
              <a:rPr lang="en-US" sz="2000" b="1" dirty="0">
                <a:solidFill>
                  <a:srgbClr val="FFFFFF"/>
                </a:solidFill>
              </a:rPr>
              <a:t>03</a:t>
            </a:r>
            <a:endParaRPr lang="en-US" sz="2000" dirty="0"/>
          </a:p>
        </p:txBody>
      </p:sp>
      <p:sp>
        <p:nvSpPr>
          <p:cNvPr id="22" name="Text 20"/>
          <p:cNvSpPr/>
          <p:nvPr/>
        </p:nvSpPr>
        <p:spPr>
          <a:xfrm>
            <a:off x="978408" y="2944368"/>
            <a:ext cx="3429000" cy="256032"/>
          </a:xfrm>
          <a:prstGeom prst="rect">
            <a:avLst/>
          </a:prstGeom>
          <a:noFill/>
          <a:ln/>
        </p:spPr>
        <p:txBody>
          <a:bodyPr wrap="square" lIns="0" tIns="0" rIns="0" bIns="0" rtlCol="0" anchor="ctr"/>
          <a:lstStyle/>
          <a:p>
            <a:pPr indent="0" marL="0">
              <a:buNone/>
            </a:pPr>
            <a:r>
              <a:rPr lang="en-US" sz="950" dirty="0">
                <a:solidFill>
                  <a:srgbClr val="64748B"/>
                </a:solidFill>
              </a:rPr>
              <a:t>Screen</a:t>
            </a:r>
            <a:endParaRPr lang="en-US" sz="950" dirty="0"/>
          </a:p>
        </p:txBody>
      </p:sp>
      <p:sp>
        <p:nvSpPr>
          <p:cNvPr id="23" name="Text 21"/>
          <p:cNvSpPr/>
          <p:nvPr/>
        </p:nvSpPr>
        <p:spPr>
          <a:xfrm>
            <a:off x="978408" y="3182112"/>
            <a:ext cx="3429000" cy="347472"/>
          </a:xfrm>
          <a:prstGeom prst="rect">
            <a:avLst/>
          </a:prstGeom>
          <a:noFill/>
          <a:ln/>
        </p:spPr>
        <p:txBody>
          <a:bodyPr wrap="square" lIns="0" tIns="0" rIns="0" bIns="0" rtlCol="0" anchor="ctr"/>
          <a:lstStyle/>
          <a:p>
            <a:pPr indent="0" marL="0">
              <a:buNone/>
            </a:pPr>
            <a:r>
              <a:rPr lang="en-US" sz="1600" b="1" dirty="0">
                <a:solidFill>
                  <a:srgbClr val="1E293B"/>
                </a:solidFill>
              </a:rPr>
              <a:t>Hint Panel</a:t>
            </a:r>
            <a:endParaRPr lang="en-US" sz="1600" dirty="0"/>
          </a:p>
        </p:txBody>
      </p:sp>
      <p:sp>
        <p:nvSpPr>
          <p:cNvPr id="24" name="Text 22"/>
          <p:cNvSpPr/>
          <p:nvPr/>
        </p:nvSpPr>
        <p:spPr>
          <a:xfrm>
            <a:off x="978408" y="3584448"/>
            <a:ext cx="3429000" cy="1005840"/>
          </a:xfrm>
          <a:prstGeom prst="rect">
            <a:avLst/>
          </a:prstGeom>
          <a:noFill/>
          <a:ln/>
        </p:spPr>
        <p:txBody>
          <a:bodyPr wrap="square" lIns="0" tIns="0" rIns="0" bIns="0" rtlCol="0" anchor="ctr"/>
          <a:lstStyle/>
          <a:p>
            <a:pPr indent="0" marL="0">
              <a:buNone/>
            </a:pPr>
            <a:r>
              <a:rPr lang="en-US" sz="1100" dirty="0">
                <a:solidFill>
                  <a:srgbClr val="1E293B"/>
                </a:solidFill>
              </a:rPr>
              <a:t>3 graduated hints (vague → explicit) · Reveal Answer after all hints used</a:t>
            </a:r>
            <a:endParaRPr lang="en-US" sz="1100" dirty="0"/>
          </a:p>
        </p:txBody>
      </p:sp>
      <p:sp>
        <p:nvSpPr>
          <p:cNvPr id="25" name="Shape 23"/>
          <p:cNvSpPr/>
          <p:nvPr/>
        </p:nvSpPr>
        <p:spPr>
          <a:xfrm>
            <a:off x="4754880" y="2834640"/>
            <a:ext cx="4206240" cy="1828800"/>
          </a:xfrm>
          <a:prstGeom prst="rect">
            <a:avLst/>
          </a:prstGeom>
          <a:solidFill>
            <a:srgbClr val="F4F7FB"/>
          </a:solidFill>
          <a:ln w="19050">
            <a:solidFill>
              <a:srgbClr val="0D8A8A"/>
            </a:solidFill>
            <a:prstDash val="solid"/>
          </a:ln>
        </p:spPr>
      </p:sp>
      <p:sp>
        <p:nvSpPr>
          <p:cNvPr id="26" name="Shape 24"/>
          <p:cNvSpPr/>
          <p:nvPr/>
        </p:nvSpPr>
        <p:spPr>
          <a:xfrm>
            <a:off x="4754880" y="2834640"/>
            <a:ext cx="640080" cy="1828800"/>
          </a:xfrm>
          <a:prstGeom prst="rect">
            <a:avLst/>
          </a:prstGeom>
          <a:solidFill>
            <a:srgbClr val="0D8A8A"/>
          </a:solidFill>
          <a:ln w="12700">
            <a:solidFill>
              <a:srgbClr val="0D8A8A"/>
            </a:solidFill>
            <a:prstDash val="solid"/>
          </a:ln>
        </p:spPr>
      </p:sp>
      <p:sp>
        <p:nvSpPr>
          <p:cNvPr id="27" name="Text 25"/>
          <p:cNvSpPr/>
          <p:nvPr/>
        </p:nvSpPr>
        <p:spPr>
          <a:xfrm>
            <a:off x="4754880" y="2834640"/>
            <a:ext cx="640080" cy="1828800"/>
          </a:xfrm>
          <a:prstGeom prst="rect">
            <a:avLst/>
          </a:prstGeom>
          <a:noFill/>
          <a:ln/>
        </p:spPr>
        <p:txBody>
          <a:bodyPr wrap="square" lIns="0" tIns="0" rIns="0" bIns="0" rtlCol="0" anchor="ctr"/>
          <a:lstStyle/>
          <a:p>
            <a:pPr algn="ctr" indent="0" marL="0">
              <a:buNone/>
            </a:pPr>
            <a:r>
              <a:rPr lang="en-US" sz="2000" b="1" dirty="0">
                <a:solidFill>
                  <a:srgbClr val="FFFFFF"/>
                </a:solidFill>
              </a:rPr>
              <a:t>04</a:t>
            </a:r>
            <a:endParaRPr lang="en-US" sz="2000" dirty="0"/>
          </a:p>
        </p:txBody>
      </p:sp>
      <p:sp>
        <p:nvSpPr>
          <p:cNvPr id="28" name="Text 26"/>
          <p:cNvSpPr/>
          <p:nvPr/>
        </p:nvSpPr>
        <p:spPr>
          <a:xfrm>
            <a:off x="5413248" y="2944368"/>
            <a:ext cx="3429000" cy="256032"/>
          </a:xfrm>
          <a:prstGeom prst="rect">
            <a:avLst/>
          </a:prstGeom>
          <a:noFill/>
          <a:ln/>
        </p:spPr>
        <p:txBody>
          <a:bodyPr wrap="square" lIns="0" tIns="0" rIns="0" bIns="0" rtlCol="0" anchor="ctr"/>
          <a:lstStyle/>
          <a:p>
            <a:pPr indent="0" marL="0">
              <a:buNone/>
            </a:pPr>
            <a:r>
              <a:rPr lang="en-US" sz="950" dirty="0">
                <a:solidFill>
                  <a:srgbClr val="64748B"/>
                </a:solidFill>
              </a:rPr>
              <a:t>Screen</a:t>
            </a:r>
            <a:endParaRPr lang="en-US" sz="950" dirty="0"/>
          </a:p>
        </p:txBody>
      </p:sp>
      <p:sp>
        <p:nvSpPr>
          <p:cNvPr id="29" name="Text 27"/>
          <p:cNvSpPr/>
          <p:nvPr/>
        </p:nvSpPr>
        <p:spPr>
          <a:xfrm>
            <a:off x="5413248" y="3182112"/>
            <a:ext cx="3429000" cy="347472"/>
          </a:xfrm>
          <a:prstGeom prst="rect">
            <a:avLst/>
          </a:prstGeom>
          <a:noFill/>
          <a:ln/>
        </p:spPr>
        <p:txBody>
          <a:bodyPr wrap="square" lIns="0" tIns="0" rIns="0" bIns="0" rtlCol="0" anchor="ctr"/>
          <a:lstStyle/>
          <a:p>
            <a:pPr indent="0" marL="0">
              <a:buNone/>
            </a:pPr>
            <a:r>
              <a:rPr lang="en-US" sz="1600" b="1" dirty="0">
                <a:solidFill>
                  <a:srgbClr val="1E293B"/>
                </a:solidFill>
              </a:rPr>
              <a:t>Analytics Dashboard</a:t>
            </a:r>
            <a:endParaRPr lang="en-US" sz="1600" dirty="0"/>
          </a:p>
        </p:txBody>
      </p:sp>
      <p:sp>
        <p:nvSpPr>
          <p:cNvPr id="30" name="Text 28"/>
          <p:cNvSpPr/>
          <p:nvPr/>
        </p:nvSpPr>
        <p:spPr>
          <a:xfrm>
            <a:off x="5413248" y="3584448"/>
            <a:ext cx="3429000" cy="1005840"/>
          </a:xfrm>
          <a:prstGeom prst="rect">
            <a:avLst/>
          </a:prstGeom>
          <a:noFill/>
          <a:ln/>
        </p:spPr>
        <p:txBody>
          <a:bodyPr wrap="square" lIns="0" tIns="0" rIns="0" bIns="0" rtlCol="0" anchor="ctr"/>
          <a:lstStyle/>
          <a:p>
            <a:pPr indent="0" marL="0">
              <a:buNone/>
            </a:pPr>
            <a:r>
              <a:rPr lang="en-US" sz="1100" dirty="0">
                <a:solidFill>
                  <a:srgbClr val="1E293B"/>
                </a:solidFill>
              </a:rPr>
              <a:t>Model A &amp; B metrics · Inference latency · CSV export for session logs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A2B4A"/>
          </a:solidFill>
          <a:ln w="12700">
            <a:solidFill>
              <a:srgbClr val="1A2B4A"/>
            </a:solidFill>
            <a:prstDash val="solid"/>
          </a:ln>
        </p:spPr>
      </p:sp>
      <p:sp>
        <p:nvSpPr>
          <p:cNvPr id="3" name="Text 1"/>
          <p:cNvSpPr/>
          <p:nvPr/>
        </p:nvSpPr>
        <p:spPr>
          <a:xfrm>
            <a:off x="320040" y="0"/>
            <a:ext cx="8503920" cy="749808"/>
          </a:xfrm>
          <a:prstGeom prst="rect">
            <a:avLst/>
          </a:prstGeom>
          <a:noFill/>
          <a:ln/>
        </p:spPr>
        <p:txBody>
          <a:bodyPr wrap="square" lIns="0" tIns="0" rIns="0" bIns="0" rtlCol="0" anchor="ctr"/>
          <a:lstStyle/>
          <a:p>
            <a:pPr indent="0" marL="0">
              <a:buNone/>
            </a:pPr>
            <a:r>
              <a:rPr lang="en-US" sz="2200" b="1" dirty="0">
                <a:solidFill>
                  <a:srgbClr val="FFFFFF"/>
                </a:solidFill>
              </a:rPr>
              <a:t>Limitations &amp; Future Work</a:t>
            </a:r>
            <a:endParaRPr lang="en-US" sz="2200" dirty="0"/>
          </a:p>
        </p:txBody>
      </p:sp>
      <p:sp>
        <p:nvSpPr>
          <p:cNvPr id="4" name="Shape 2"/>
          <p:cNvSpPr/>
          <p:nvPr/>
        </p:nvSpPr>
        <p:spPr>
          <a:xfrm>
            <a:off x="0" y="4892040"/>
            <a:ext cx="9144000" cy="256032"/>
          </a:xfrm>
          <a:prstGeom prst="rect">
            <a:avLst/>
          </a:prstGeom>
          <a:solidFill>
            <a:srgbClr val="1A2B4A"/>
          </a:solidFill>
          <a:ln w="12700">
            <a:solidFill>
              <a:srgbClr val="1A2B4A"/>
            </a:solidFill>
            <a:prstDash val="solid"/>
          </a:ln>
        </p:spPr>
      </p:sp>
      <p:sp>
        <p:nvSpPr>
          <p:cNvPr id="5" name="Text 3"/>
          <p:cNvSpPr/>
          <p:nvPr/>
        </p:nvSpPr>
        <p:spPr>
          <a:xfrm>
            <a:off x="274320" y="4892040"/>
            <a:ext cx="7772400" cy="256032"/>
          </a:xfrm>
          <a:prstGeom prst="rect">
            <a:avLst/>
          </a:prstGeom>
          <a:noFill/>
          <a:ln/>
        </p:spPr>
        <p:txBody>
          <a:bodyPr wrap="square" lIns="0" tIns="0" rIns="0" bIns="0" rtlCol="0" anchor="ctr"/>
          <a:lstStyle/>
          <a:p>
            <a:pPr indent="0" marL="0">
              <a:buNone/>
            </a:pPr>
            <a:r>
              <a:rPr lang="en-US" sz="800" dirty="0">
                <a:solidFill>
                  <a:srgbClr val="A0B4CC"/>
                </a:solidFill>
              </a:rPr>
              <a:t>FAST-NUCES | AI Spring 2026 | Talha Qamar (23i-0013) · Taaha Zaman (22i-1377)</a:t>
            </a:r>
            <a:endParaRPr lang="en-US" sz="800" dirty="0"/>
          </a:p>
        </p:txBody>
      </p:sp>
      <p:sp>
        <p:nvSpPr>
          <p:cNvPr id="6" name="Text 4"/>
          <p:cNvSpPr/>
          <p:nvPr/>
        </p:nvSpPr>
        <p:spPr>
          <a:xfrm>
            <a:off x="8229600" y="4892040"/>
            <a:ext cx="731520" cy="256032"/>
          </a:xfrm>
          <a:prstGeom prst="rect">
            <a:avLst/>
          </a:prstGeom>
          <a:noFill/>
          <a:ln/>
        </p:spPr>
        <p:txBody>
          <a:bodyPr wrap="square" lIns="0" tIns="0" rIns="0" bIns="0" rtlCol="0" anchor="ctr"/>
          <a:lstStyle/>
          <a:p>
            <a:pPr algn="r" indent="0" marL="0">
              <a:buNone/>
            </a:pPr>
            <a:r>
              <a:rPr lang="en-US" sz="800" dirty="0">
                <a:solidFill>
                  <a:srgbClr val="A0B4CC"/>
                </a:solidFill>
              </a:rPr>
              <a:t>14 / 15</a:t>
            </a:r>
            <a:endParaRPr lang="en-US" sz="800" dirty="0"/>
          </a:p>
        </p:txBody>
      </p:sp>
      <p:sp>
        <p:nvSpPr>
          <p:cNvPr id="7" name="Shape 5"/>
          <p:cNvSpPr/>
          <p:nvPr/>
        </p:nvSpPr>
        <p:spPr>
          <a:xfrm>
            <a:off x="320040" y="886968"/>
            <a:ext cx="4114800" cy="329184"/>
          </a:xfrm>
          <a:prstGeom prst="rect">
            <a:avLst/>
          </a:prstGeom>
          <a:solidFill>
            <a:srgbClr val="DC2626"/>
          </a:solidFill>
          <a:ln w="12700">
            <a:solidFill>
              <a:srgbClr val="DC2626"/>
            </a:solidFill>
            <a:prstDash val="solid"/>
          </a:ln>
        </p:spPr>
      </p:sp>
      <p:sp>
        <p:nvSpPr>
          <p:cNvPr id="8" name="Text 6"/>
          <p:cNvSpPr/>
          <p:nvPr/>
        </p:nvSpPr>
        <p:spPr>
          <a:xfrm>
            <a:off x="320040" y="886968"/>
            <a:ext cx="4114800" cy="329184"/>
          </a:xfrm>
          <a:prstGeom prst="rect">
            <a:avLst/>
          </a:prstGeom>
          <a:noFill/>
          <a:ln/>
        </p:spPr>
        <p:txBody>
          <a:bodyPr wrap="square" lIns="0" tIns="0" rIns="0" bIns="0" rtlCol="0" anchor="ctr"/>
          <a:lstStyle/>
          <a:p>
            <a:pPr algn="ctr" indent="0" marL="0">
              <a:buNone/>
            </a:pPr>
            <a:r>
              <a:rPr lang="en-US" sz="1300" b="1" dirty="0">
                <a:solidFill>
                  <a:srgbClr val="FFFFFF"/>
                </a:solidFill>
              </a:rPr>
              <a:t>Limitations</a:t>
            </a:r>
            <a:endParaRPr lang="en-US" sz="1300" dirty="0"/>
          </a:p>
        </p:txBody>
      </p:sp>
      <p:sp>
        <p:nvSpPr>
          <p:cNvPr id="9" name="Text 7"/>
          <p:cNvSpPr/>
          <p:nvPr/>
        </p:nvSpPr>
        <p:spPr>
          <a:xfrm>
            <a:off x="320040" y="1234440"/>
            <a:ext cx="4114800" cy="3520440"/>
          </a:xfrm>
          <a:prstGeom prst="rect">
            <a:avLst/>
          </a:prstGeom>
          <a:noFill/>
          <a:ln/>
        </p:spPr>
        <p:txBody>
          <a:bodyPr wrap="square" rtlCol="0" anchor="ctr"/>
          <a:lstStyle/>
          <a:p>
            <a:pPr marL="342900" indent="-342900">
              <a:buSzPct val="100000"/>
              <a:buChar char="•"/>
            </a:pPr>
            <a:r>
              <a:rPr lang="en-US" sz="1350" dirty="0">
                <a:solidFill>
                  <a:srgbClr val="1E293B"/>
                </a:solidFill>
              </a:rPr>
              <a:t>TF-IDF loses word order — 'dog bites man' = 'man bites dog'</a:t>
            </a:r>
            <a:endParaRPr lang="en-US" sz="1350" dirty="0"/>
          </a:p>
          <a:p>
            <a:pPr marL="342900" indent="-342900">
              <a:buSzPct val="100000"/>
              <a:buChar char="•"/>
            </a:pPr>
            <a:r>
              <a:rPr lang="en-US" sz="1350" dirty="0">
                <a:solidFill>
                  <a:srgbClr val="1E293B"/>
                </a:solidFill>
              </a:rPr>
              <a:t>OOV words score zero — unseen vocabulary at inference time</a:t>
            </a:r>
            <a:endParaRPr lang="en-US" sz="1350" dirty="0"/>
          </a:p>
          <a:p>
            <a:pPr marL="342900" indent="-342900">
              <a:buSzPct val="100000"/>
              <a:buChar char="•"/>
            </a:pPr>
            <a:r>
              <a:rPr lang="en-US" sz="1350" dirty="0">
                <a:solidFill>
                  <a:srgbClr val="1E293B"/>
                </a:solidFill>
              </a:rPr>
              <a:t>Macro F1 ≈ 0.5 for supervised Model A — limited by task difficulty</a:t>
            </a:r>
            <a:endParaRPr lang="en-US" sz="1350" dirty="0"/>
          </a:p>
          <a:p>
            <a:pPr marL="342900" indent="-342900">
              <a:buSzPct val="100000"/>
              <a:buChar char="•"/>
            </a:pPr>
            <a:r>
              <a:rPr lang="en-US" sz="1350" dirty="0">
                <a:solidFill>
                  <a:srgbClr val="1E293B"/>
                </a:solidFill>
              </a:rPr>
              <a:t>Distractor Recall = 0.19 — only 19% of gold distractors recovered (multiple valid solutions not in gold)</a:t>
            </a:r>
            <a:endParaRPr lang="en-US" sz="1350" dirty="0"/>
          </a:p>
          <a:p>
            <a:pPr marL="342900" indent="-342900">
              <a:buSzPct val="100000"/>
              <a:buChar char="•"/>
            </a:pPr>
            <a:r>
              <a:rPr lang="en-US" sz="1350" dirty="0">
                <a:solidFill>
                  <a:srgbClr val="1E293B"/>
                </a:solidFill>
              </a:rPr>
              <a:t>RACE passages are from Chinese school exams — cultural/linguistic bias may affect generalisation</a:t>
            </a:r>
            <a:endParaRPr lang="en-US" sz="1350" dirty="0"/>
          </a:p>
          <a:p>
            <a:pPr marL="342900" indent="-342900">
              <a:buSzPct val="100000"/>
              <a:buChar char="•"/>
            </a:pPr>
            <a:r>
              <a:rPr lang="en-US" sz="1350" dirty="0">
                <a:solidFill>
                  <a:srgbClr val="1E293B"/>
                </a:solidFill>
              </a:rPr>
              <a:t>UI accessibility: keyboard navigation &amp; WCAG contrast ratios not yet validated</a:t>
            </a:r>
            <a:endParaRPr lang="en-US" sz="1350" dirty="0"/>
          </a:p>
        </p:txBody>
      </p:sp>
      <p:sp>
        <p:nvSpPr>
          <p:cNvPr id="10" name="Shape 8"/>
          <p:cNvSpPr/>
          <p:nvPr/>
        </p:nvSpPr>
        <p:spPr>
          <a:xfrm>
            <a:off x="4709160" y="886968"/>
            <a:ext cx="4114800" cy="329184"/>
          </a:xfrm>
          <a:prstGeom prst="rect">
            <a:avLst/>
          </a:prstGeom>
          <a:solidFill>
            <a:srgbClr val="059669"/>
          </a:solidFill>
          <a:ln w="12700">
            <a:solidFill>
              <a:srgbClr val="059669"/>
            </a:solidFill>
            <a:prstDash val="solid"/>
          </a:ln>
        </p:spPr>
      </p:sp>
      <p:sp>
        <p:nvSpPr>
          <p:cNvPr id="11" name="Text 9"/>
          <p:cNvSpPr/>
          <p:nvPr/>
        </p:nvSpPr>
        <p:spPr>
          <a:xfrm>
            <a:off x="4709160" y="886968"/>
            <a:ext cx="4114800" cy="329184"/>
          </a:xfrm>
          <a:prstGeom prst="rect">
            <a:avLst/>
          </a:prstGeom>
          <a:noFill/>
          <a:ln/>
        </p:spPr>
        <p:txBody>
          <a:bodyPr wrap="square" lIns="0" tIns="0" rIns="0" bIns="0" rtlCol="0" anchor="ctr"/>
          <a:lstStyle/>
          <a:p>
            <a:pPr algn="ctr" indent="0" marL="0">
              <a:buNone/>
            </a:pPr>
            <a:r>
              <a:rPr lang="en-US" sz="1300" b="1" dirty="0">
                <a:solidFill>
                  <a:srgbClr val="FFFFFF"/>
                </a:solidFill>
              </a:rPr>
              <a:t>Future Work</a:t>
            </a:r>
            <a:endParaRPr lang="en-US" sz="1300" dirty="0"/>
          </a:p>
        </p:txBody>
      </p:sp>
      <p:sp>
        <p:nvSpPr>
          <p:cNvPr id="12" name="Text 10"/>
          <p:cNvSpPr/>
          <p:nvPr/>
        </p:nvSpPr>
        <p:spPr>
          <a:xfrm>
            <a:off x="4709160" y="1234440"/>
            <a:ext cx="4114800" cy="3520440"/>
          </a:xfrm>
          <a:prstGeom prst="rect">
            <a:avLst/>
          </a:prstGeom>
          <a:noFill/>
          <a:ln/>
        </p:spPr>
        <p:txBody>
          <a:bodyPr wrap="square" rtlCol="0" anchor="ctr"/>
          <a:lstStyle/>
          <a:p>
            <a:pPr marL="342900" indent="-342900">
              <a:buSzPct val="100000"/>
              <a:buChar char="•"/>
            </a:pPr>
            <a:r>
              <a:rPr lang="en-US" sz="1350" dirty="0">
                <a:solidFill>
                  <a:srgbClr val="1E293B"/>
                </a:solidFill>
              </a:rPr>
              <a:t>Fine-tune RoBERTa / BERT on RACE — expected +15–20% macro F1</a:t>
            </a:r>
            <a:endParaRPr lang="en-US" sz="1350" dirty="0"/>
          </a:p>
          <a:p>
            <a:pPr marL="342900" indent="-342900">
              <a:buSzPct val="100000"/>
              <a:buChar char="•"/>
            </a:pPr>
            <a:r>
              <a:rPr lang="en-US" sz="1350" dirty="0">
                <a:solidFill>
                  <a:srgbClr val="1E293B"/>
                </a:solidFill>
              </a:rPr>
              <a:t>T5 / BART for abstractive distractor generation beyond passage vocabulary</a:t>
            </a:r>
            <a:endParaRPr lang="en-US" sz="1350" dirty="0"/>
          </a:p>
          <a:p>
            <a:pPr marL="342900" indent="-342900">
              <a:buSzPct val="100000"/>
              <a:buChar char="•"/>
            </a:pPr>
            <a:r>
              <a:rPr lang="en-US" sz="1350" dirty="0">
                <a:solidFill>
                  <a:srgbClr val="1E293B"/>
                </a:solidFill>
              </a:rPr>
              <a:t>WordNet synonym expansion — improve distractor diversity</a:t>
            </a:r>
            <a:endParaRPr lang="en-US" sz="1350" dirty="0"/>
          </a:p>
          <a:p>
            <a:pPr marL="342900" indent="-342900">
              <a:buSzPct val="100000"/>
              <a:buChar char="•"/>
            </a:pPr>
            <a:r>
              <a:rPr lang="en-US" sz="1350" dirty="0">
                <a:solidFill>
                  <a:srgbClr val="1E293B"/>
                </a:solidFill>
              </a:rPr>
              <a:t>WCAG 2.1 compliance — screen reader support, keyboard navigation</a:t>
            </a:r>
            <a:endParaRPr lang="en-US" sz="1350" dirty="0"/>
          </a:p>
          <a:p>
            <a:pPr marL="342900" indent="-342900">
              <a:buSzPct val="100000"/>
              <a:buChar char="•"/>
            </a:pPr>
            <a:r>
              <a:rPr lang="en-US" sz="1350" dirty="0">
                <a:solidFill>
                  <a:srgbClr val="1E293B"/>
                </a:solidFill>
              </a:rPr>
              <a:t>Human evaluation study — Likert scale plausibility rating for distractors</a:t>
            </a:r>
            <a:endParaRPr lang="en-US" sz="1350" dirty="0"/>
          </a:p>
          <a:p>
            <a:pPr marL="342900" indent="-342900">
              <a:buSzPct val="100000"/>
              <a:buChar char="•"/>
            </a:pPr>
            <a:r>
              <a:rPr lang="en-US" sz="1350" dirty="0">
                <a:solidFill>
                  <a:srgbClr val="1E293B"/>
                </a:solidFill>
              </a:rPr>
              <a:t>Extend to other MCQ datasets (SQuAD, TriviaQA) for broader generalisation</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B4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9E0B"/>
          </a:solidFill>
          <a:ln w="12700">
            <a:solidFill>
              <a:srgbClr val="F59E0B"/>
            </a:solidFill>
            <a:prstDash val="solid"/>
          </a:ln>
        </p:spPr>
      </p:sp>
      <p:sp>
        <p:nvSpPr>
          <p:cNvPr id="3" name="Text 1"/>
          <p:cNvSpPr/>
          <p:nvPr/>
        </p:nvSpPr>
        <p:spPr>
          <a:xfrm>
            <a:off x="457200" y="164592"/>
            <a:ext cx="8229600" cy="457200"/>
          </a:xfrm>
          <a:prstGeom prst="rect">
            <a:avLst/>
          </a:prstGeom>
          <a:noFill/>
          <a:ln/>
        </p:spPr>
        <p:txBody>
          <a:bodyPr wrap="square" rtlCol="0" anchor="ctr"/>
          <a:lstStyle/>
          <a:p>
            <a:pPr algn="ctr" indent="0" marL="0">
              <a:buNone/>
            </a:pPr>
            <a:r>
              <a:rPr lang="en-US" sz="2600" b="1" dirty="0">
                <a:solidFill>
                  <a:srgbClr val="FFFFFF"/>
                </a:solidFill>
              </a:rPr>
              <a:t>Conclusion</a:t>
            </a:r>
            <a:endParaRPr lang="en-US" sz="2600" dirty="0"/>
          </a:p>
        </p:txBody>
      </p:sp>
      <p:sp>
        <p:nvSpPr>
          <p:cNvPr id="4" name="Shape 2"/>
          <p:cNvSpPr/>
          <p:nvPr/>
        </p:nvSpPr>
        <p:spPr>
          <a:xfrm>
            <a:off x="457200" y="749808"/>
            <a:ext cx="8229600" cy="557784"/>
          </a:xfrm>
          <a:prstGeom prst="rect">
            <a:avLst/>
          </a:prstGeom>
          <a:solidFill>
            <a:srgbClr val="1E3A5F"/>
          </a:solidFill>
          <a:ln w="9525">
            <a:solidFill>
              <a:srgbClr val="2563A8"/>
            </a:solidFill>
            <a:prstDash val="solid"/>
          </a:ln>
        </p:spPr>
      </p:sp>
      <p:sp>
        <p:nvSpPr>
          <p:cNvPr id="5" name="Text 3"/>
          <p:cNvSpPr/>
          <p:nvPr/>
        </p:nvSpPr>
        <p:spPr>
          <a:xfrm>
            <a:off x="548640" y="749808"/>
            <a:ext cx="365760" cy="557784"/>
          </a:xfrm>
          <a:prstGeom prst="rect">
            <a:avLst/>
          </a:prstGeom>
          <a:noFill/>
          <a:ln/>
        </p:spPr>
        <p:txBody>
          <a:bodyPr wrap="square" lIns="0" tIns="0" rIns="0" bIns="0" rtlCol="0" anchor="ctr"/>
          <a:lstStyle/>
          <a:p>
            <a:pPr algn="ctr" indent="0" marL="0">
              <a:buNone/>
            </a:pPr>
            <a:r>
              <a:rPr lang="en-US" sz="1400" dirty="0">
                <a:solidFill>
                  <a:srgbClr val="F59E0B"/>
                </a:solidFill>
              </a:rPr>
              <a:t>★</a:t>
            </a:r>
            <a:endParaRPr lang="en-US" sz="1400" dirty="0"/>
          </a:p>
        </p:txBody>
      </p:sp>
      <p:sp>
        <p:nvSpPr>
          <p:cNvPr id="6" name="Text 4"/>
          <p:cNvSpPr/>
          <p:nvPr/>
        </p:nvSpPr>
        <p:spPr>
          <a:xfrm>
            <a:off x="960120" y="786384"/>
            <a:ext cx="2377440" cy="237744"/>
          </a:xfrm>
          <a:prstGeom prst="rect">
            <a:avLst/>
          </a:prstGeom>
          <a:noFill/>
          <a:ln/>
        </p:spPr>
        <p:txBody>
          <a:bodyPr wrap="square" lIns="0" tIns="0" rIns="0" bIns="0" rtlCol="0" anchor="ctr"/>
          <a:lstStyle/>
          <a:p>
            <a:pPr indent="0" marL="0">
              <a:buNone/>
            </a:pPr>
            <a:r>
              <a:rPr lang="en-US" sz="1200" b="1" dirty="0">
                <a:solidFill>
                  <a:srgbClr val="FFFFFF"/>
                </a:solidFill>
              </a:rPr>
              <a:t>Classical ML is viable</a:t>
            </a:r>
            <a:endParaRPr lang="en-US" sz="1200" dirty="0"/>
          </a:p>
        </p:txBody>
      </p:sp>
      <p:sp>
        <p:nvSpPr>
          <p:cNvPr id="7" name="Text 5"/>
          <p:cNvSpPr/>
          <p:nvPr/>
        </p:nvSpPr>
        <p:spPr>
          <a:xfrm>
            <a:off x="960120" y="1005840"/>
            <a:ext cx="7589520" cy="237744"/>
          </a:xfrm>
          <a:prstGeom prst="rect">
            <a:avLst/>
          </a:prstGeom>
          <a:noFill/>
          <a:ln/>
        </p:spPr>
        <p:txBody>
          <a:bodyPr wrap="square" lIns="0" tIns="0" rIns="0" bIns="0" rtlCol="0" anchor="ctr"/>
          <a:lstStyle/>
          <a:p>
            <a:pPr indent="0" marL="0">
              <a:buNone/>
            </a:pPr>
            <a:r>
              <a:rPr lang="en-US" sz="1050" dirty="0">
                <a:solidFill>
                  <a:srgbClr val="CADCF5"/>
                </a:solidFill>
              </a:rPr>
              <a:t>Random Forest + soft-vote ensemble achieves Macro F1 = 0.505 on a hard imbalanced task</a:t>
            </a:r>
            <a:endParaRPr lang="en-US" sz="1050" dirty="0"/>
          </a:p>
        </p:txBody>
      </p:sp>
      <p:sp>
        <p:nvSpPr>
          <p:cNvPr id="8" name="Shape 6"/>
          <p:cNvSpPr/>
          <p:nvPr/>
        </p:nvSpPr>
        <p:spPr>
          <a:xfrm>
            <a:off x="457200" y="1399032"/>
            <a:ext cx="8229600" cy="557784"/>
          </a:xfrm>
          <a:prstGeom prst="rect">
            <a:avLst/>
          </a:prstGeom>
          <a:solidFill>
            <a:srgbClr val="1E3A5F"/>
          </a:solidFill>
          <a:ln w="9525">
            <a:solidFill>
              <a:srgbClr val="2563A8"/>
            </a:solidFill>
            <a:prstDash val="solid"/>
          </a:ln>
        </p:spPr>
      </p:sp>
      <p:sp>
        <p:nvSpPr>
          <p:cNvPr id="9" name="Text 7"/>
          <p:cNvSpPr/>
          <p:nvPr/>
        </p:nvSpPr>
        <p:spPr>
          <a:xfrm>
            <a:off x="548640" y="1399032"/>
            <a:ext cx="365760" cy="557784"/>
          </a:xfrm>
          <a:prstGeom prst="rect">
            <a:avLst/>
          </a:prstGeom>
          <a:noFill/>
          <a:ln/>
        </p:spPr>
        <p:txBody>
          <a:bodyPr wrap="square" lIns="0" tIns="0" rIns="0" bIns="0" rtlCol="0" anchor="ctr"/>
          <a:lstStyle/>
          <a:p>
            <a:pPr algn="ctr" indent="0" marL="0">
              <a:buNone/>
            </a:pPr>
            <a:r>
              <a:rPr lang="en-US" sz="1400" dirty="0">
                <a:solidFill>
                  <a:srgbClr val="F59E0B"/>
                </a:solidFill>
              </a:rPr>
              <a:t>★</a:t>
            </a:r>
            <a:endParaRPr lang="en-US" sz="1400" dirty="0"/>
          </a:p>
        </p:txBody>
      </p:sp>
      <p:sp>
        <p:nvSpPr>
          <p:cNvPr id="10" name="Text 8"/>
          <p:cNvSpPr/>
          <p:nvPr/>
        </p:nvSpPr>
        <p:spPr>
          <a:xfrm>
            <a:off x="960120" y="1435608"/>
            <a:ext cx="2377440" cy="237744"/>
          </a:xfrm>
          <a:prstGeom prst="rect">
            <a:avLst/>
          </a:prstGeom>
          <a:noFill/>
          <a:ln/>
        </p:spPr>
        <p:txBody>
          <a:bodyPr wrap="square" lIns="0" tIns="0" rIns="0" bIns="0" rtlCol="0" anchor="ctr"/>
          <a:lstStyle/>
          <a:p>
            <a:pPr indent="0" marL="0">
              <a:buNone/>
            </a:pPr>
            <a:r>
              <a:rPr lang="en-US" sz="1200" b="1" dirty="0">
                <a:solidFill>
                  <a:srgbClr val="FFFFFF"/>
                </a:solidFill>
              </a:rPr>
              <a:t>Macro F1 &gt; Accuracy</a:t>
            </a:r>
            <a:endParaRPr lang="en-US" sz="1200" dirty="0"/>
          </a:p>
        </p:txBody>
      </p:sp>
      <p:sp>
        <p:nvSpPr>
          <p:cNvPr id="11" name="Text 9"/>
          <p:cNvSpPr/>
          <p:nvPr/>
        </p:nvSpPr>
        <p:spPr>
          <a:xfrm>
            <a:off x="960120" y="1655064"/>
            <a:ext cx="7589520" cy="237744"/>
          </a:xfrm>
          <a:prstGeom prst="rect">
            <a:avLst/>
          </a:prstGeom>
          <a:noFill/>
          <a:ln/>
        </p:spPr>
        <p:txBody>
          <a:bodyPr wrap="square" lIns="0" tIns="0" rIns="0" bIns="0" rtlCol="0" anchor="ctr"/>
          <a:lstStyle/>
          <a:p>
            <a:pPr indent="0" marL="0">
              <a:buNone/>
            </a:pPr>
            <a:r>
              <a:rPr lang="en-US" sz="1050" dirty="0">
                <a:solidFill>
                  <a:srgbClr val="CADCF5"/>
                </a:solidFill>
              </a:rPr>
              <a:t>75% accuracy can mean a useless model — always report macro F1 under class imbalance</a:t>
            </a:r>
            <a:endParaRPr lang="en-US" sz="1050" dirty="0"/>
          </a:p>
        </p:txBody>
      </p:sp>
      <p:sp>
        <p:nvSpPr>
          <p:cNvPr id="12" name="Shape 10"/>
          <p:cNvSpPr/>
          <p:nvPr/>
        </p:nvSpPr>
        <p:spPr>
          <a:xfrm>
            <a:off x="457200" y="2048256"/>
            <a:ext cx="8229600" cy="557784"/>
          </a:xfrm>
          <a:prstGeom prst="rect">
            <a:avLst/>
          </a:prstGeom>
          <a:solidFill>
            <a:srgbClr val="1E3A5F"/>
          </a:solidFill>
          <a:ln w="9525">
            <a:solidFill>
              <a:srgbClr val="2563A8"/>
            </a:solidFill>
            <a:prstDash val="solid"/>
          </a:ln>
        </p:spPr>
      </p:sp>
      <p:sp>
        <p:nvSpPr>
          <p:cNvPr id="13" name="Text 11"/>
          <p:cNvSpPr/>
          <p:nvPr/>
        </p:nvSpPr>
        <p:spPr>
          <a:xfrm>
            <a:off x="548640" y="2048256"/>
            <a:ext cx="365760" cy="557784"/>
          </a:xfrm>
          <a:prstGeom prst="rect">
            <a:avLst/>
          </a:prstGeom>
          <a:noFill/>
          <a:ln/>
        </p:spPr>
        <p:txBody>
          <a:bodyPr wrap="square" lIns="0" tIns="0" rIns="0" bIns="0" rtlCol="0" anchor="ctr"/>
          <a:lstStyle/>
          <a:p>
            <a:pPr algn="ctr" indent="0" marL="0">
              <a:buNone/>
            </a:pPr>
            <a:r>
              <a:rPr lang="en-US" sz="1400" dirty="0">
                <a:solidFill>
                  <a:srgbClr val="F59E0B"/>
                </a:solidFill>
              </a:rPr>
              <a:t>★</a:t>
            </a:r>
            <a:endParaRPr lang="en-US" sz="1400" dirty="0"/>
          </a:p>
        </p:txBody>
      </p:sp>
      <p:sp>
        <p:nvSpPr>
          <p:cNvPr id="14" name="Text 12"/>
          <p:cNvSpPr/>
          <p:nvPr/>
        </p:nvSpPr>
        <p:spPr>
          <a:xfrm>
            <a:off x="960120" y="2084832"/>
            <a:ext cx="2377440" cy="237744"/>
          </a:xfrm>
          <a:prstGeom prst="rect">
            <a:avLst/>
          </a:prstGeom>
          <a:noFill/>
          <a:ln/>
        </p:spPr>
        <p:txBody>
          <a:bodyPr wrap="square" lIns="0" tIns="0" rIns="0" bIns="0" rtlCol="0" anchor="ctr"/>
          <a:lstStyle/>
          <a:p>
            <a:pPr indent="0" marL="0">
              <a:buNone/>
            </a:pPr>
            <a:r>
              <a:rPr lang="en-US" sz="1200" b="1" dirty="0">
                <a:solidFill>
                  <a:srgbClr val="FFFFFF"/>
                </a:solidFill>
              </a:rPr>
              <a:t>Label Propagation wins</a:t>
            </a:r>
            <a:endParaRPr lang="en-US" sz="1200" dirty="0"/>
          </a:p>
        </p:txBody>
      </p:sp>
      <p:sp>
        <p:nvSpPr>
          <p:cNvPr id="15" name="Text 13"/>
          <p:cNvSpPr/>
          <p:nvPr/>
        </p:nvSpPr>
        <p:spPr>
          <a:xfrm>
            <a:off x="960120" y="2304288"/>
            <a:ext cx="7589520" cy="237744"/>
          </a:xfrm>
          <a:prstGeom prst="rect">
            <a:avLst/>
          </a:prstGeom>
          <a:noFill/>
          <a:ln/>
        </p:spPr>
        <p:txBody>
          <a:bodyPr wrap="square" lIns="0" tIns="0" rIns="0" bIns="0" rtlCol="0" anchor="ctr"/>
          <a:lstStyle/>
          <a:p>
            <a:pPr indent="0" marL="0">
              <a:buNone/>
            </a:pPr>
            <a:r>
              <a:rPr lang="en-US" sz="1050" dirty="0">
                <a:solidFill>
                  <a:srgbClr val="CADCF5"/>
                </a:solidFill>
              </a:rPr>
              <a:t>20% labeled data → Macro F1 = 0.652 — semi-supervised learning outperforms all supervised models</a:t>
            </a:r>
            <a:endParaRPr lang="en-US" sz="1050" dirty="0"/>
          </a:p>
        </p:txBody>
      </p:sp>
      <p:sp>
        <p:nvSpPr>
          <p:cNvPr id="16" name="Shape 14"/>
          <p:cNvSpPr/>
          <p:nvPr/>
        </p:nvSpPr>
        <p:spPr>
          <a:xfrm>
            <a:off x="457200" y="2697480"/>
            <a:ext cx="8229600" cy="557784"/>
          </a:xfrm>
          <a:prstGeom prst="rect">
            <a:avLst/>
          </a:prstGeom>
          <a:solidFill>
            <a:srgbClr val="1E3A5F"/>
          </a:solidFill>
          <a:ln w="9525">
            <a:solidFill>
              <a:srgbClr val="2563A8"/>
            </a:solidFill>
            <a:prstDash val="solid"/>
          </a:ln>
        </p:spPr>
      </p:sp>
      <p:sp>
        <p:nvSpPr>
          <p:cNvPr id="17" name="Text 15"/>
          <p:cNvSpPr/>
          <p:nvPr/>
        </p:nvSpPr>
        <p:spPr>
          <a:xfrm>
            <a:off x="548640" y="2697480"/>
            <a:ext cx="365760" cy="557784"/>
          </a:xfrm>
          <a:prstGeom prst="rect">
            <a:avLst/>
          </a:prstGeom>
          <a:noFill/>
          <a:ln/>
        </p:spPr>
        <p:txBody>
          <a:bodyPr wrap="square" lIns="0" tIns="0" rIns="0" bIns="0" rtlCol="0" anchor="ctr"/>
          <a:lstStyle/>
          <a:p>
            <a:pPr algn="ctr" indent="0" marL="0">
              <a:buNone/>
            </a:pPr>
            <a:r>
              <a:rPr lang="en-US" sz="1400" dirty="0">
                <a:solidFill>
                  <a:srgbClr val="F59E0B"/>
                </a:solidFill>
              </a:rPr>
              <a:t>★</a:t>
            </a:r>
            <a:endParaRPr lang="en-US" sz="1400" dirty="0"/>
          </a:p>
        </p:txBody>
      </p:sp>
      <p:sp>
        <p:nvSpPr>
          <p:cNvPr id="18" name="Text 16"/>
          <p:cNvSpPr/>
          <p:nvPr/>
        </p:nvSpPr>
        <p:spPr>
          <a:xfrm>
            <a:off x="960120" y="2734056"/>
            <a:ext cx="2377440" cy="237744"/>
          </a:xfrm>
          <a:prstGeom prst="rect">
            <a:avLst/>
          </a:prstGeom>
          <a:noFill/>
          <a:ln/>
        </p:spPr>
        <p:txBody>
          <a:bodyPr wrap="square" lIns="0" tIns="0" rIns="0" bIns="0" rtlCol="0" anchor="ctr"/>
          <a:lstStyle/>
          <a:p>
            <a:pPr indent="0" marL="0">
              <a:buNone/>
            </a:pPr>
            <a:r>
              <a:rPr lang="en-US" sz="1200" b="1" dirty="0">
                <a:solidFill>
                  <a:srgbClr val="FFFFFF"/>
                </a:solidFill>
              </a:rPr>
              <a:t>Model B is production-ready</a:t>
            </a:r>
            <a:endParaRPr lang="en-US" sz="1200" dirty="0"/>
          </a:p>
        </p:txBody>
      </p:sp>
      <p:sp>
        <p:nvSpPr>
          <p:cNvPr id="19" name="Text 17"/>
          <p:cNvSpPr/>
          <p:nvPr/>
        </p:nvSpPr>
        <p:spPr>
          <a:xfrm>
            <a:off x="960120" y="2953512"/>
            <a:ext cx="7589520" cy="237744"/>
          </a:xfrm>
          <a:prstGeom prst="rect">
            <a:avLst/>
          </a:prstGeom>
          <a:noFill/>
          <a:ln/>
        </p:spPr>
        <p:txBody>
          <a:bodyPr wrap="square" lIns="0" tIns="0" rIns="0" bIns="0" rtlCol="0" anchor="ctr"/>
          <a:lstStyle/>
          <a:p>
            <a:pPr indent="0" marL="0">
              <a:buNone/>
            </a:pPr>
            <a:r>
              <a:rPr lang="en-US" sz="1050" dirty="0">
                <a:solidFill>
                  <a:srgbClr val="CADCF5"/>
                </a:solidFill>
              </a:rPr>
              <a:t>Precision@3 = 0.89 for hints; RF distractor ranker at 98.6% accuracy</a:t>
            </a:r>
            <a:endParaRPr lang="en-US" sz="1050" dirty="0"/>
          </a:p>
        </p:txBody>
      </p:sp>
      <p:sp>
        <p:nvSpPr>
          <p:cNvPr id="20" name="Shape 18"/>
          <p:cNvSpPr/>
          <p:nvPr/>
        </p:nvSpPr>
        <p:spPr>
          <a:xfrm>
            <a:off x="457200" y="3346704"/>
            <a:ext cx="8229600" cy="557784"/>
          </a:xfrm>
          <a:prstGeom prst="rect">
            <a:avLst/>
          </a:prstGeom>
          <a:solidFill>
            <a:srgbClr val="1E3A5F"/>
          </a:solidFill>
          <a:ln w="9525">
            <a:solidFill>
              <a:srgbClr val="2563A8"/>
            </a:solidFill>
            <a:prstDash val="solid"/>
          </a:ln>
        </p:spPr>
      </p:sp>
      <p:sp>
        <p:nvSpPr>
          <p:cNvPr id="21" name="Text 19"/>
          <p:cNvSpPr/>
          <p:nvPr/>
        </p:nvSpPr>
        <p:spPr>
          <a:xfrm>
            <a:off x="548640" y="3346704"/>
            <a:ext cx="365760" cy="557784"/>
          </a:xfrm>
          <a:prstGeom prst="rect">
            <a:avLst/>
          </a:prstGeom>
          <a:noFill/>
          <a:ln/>
        </p:spPr>
        <p:txBody>
          <a:bodyPr wrap="square" lIns="0" tIns="0" rIns="0" bIns="0" rtlCol="0" anchor="ctr"/>
          <a:lstStyle/>
          <a:p>
            <a:pPr algn="ctr" indent="0" marL="0">
              <a:buNone/>
            </a:pPr>
            <a:r>
              <a:rPr lang="en-US" sz="1400" dirty="0">
                <a:solidFill>
                  <a:srgbClr val="F59E0B"/>
                </a:solidFill>
              </a:rPr>
              <a:t>★</a:t>
            </a:r>
            <a:endParaRPr lang="en-US" sz="1400" dirty="0"/>
          </a:p>
        </p:txBody>
      </p:sp>
      <p:sp>
        <p:nvSpPr>
          <p:cNvPr id="22" name="Text 20"/>
          <p:cNvSpPr/>
          <p:nvPr/>
        </p:nvSpPr>
        <p:spPr>
          <a:xfrm>
            <a:off x="960120" y="3383280"/>
            <a:ext cx="2377440" cy="237744"/>
          </a:xfrm>
          <a:prstGeom prst="rect">
            <a:avLst/>
          </a:prstGeom>
          <a:noFill/>
          <a:ln/>
        </p:spPr>
        <p:txBody>
          <a:bodyPr wrap="square" lIns="0" tIns="0" rIns="0" bIns="0" rtlCol="0" anchor="ctr"/>
          <a:lstStyle/>
          <a:p>
            <a:pPr indent="0" marL="0">
              <a:buNone/>
            </a:pPr>
            <a:r>
              <a:rPr lang="en-US" sz="1200" b="1" dirty="0">
                <a:solidFill>
                  <a:srgbClr val="FFFFFF"/>
                </a:solidFill>
              </a:rPr>
              <a:t>TF-IDF enhancement</a:t>
            </a:r>
            <a:endParaRPr lang="en-US" sz="1200" dirty="0"/>
          </a:p>
        </p:txBody>
      </p:sp>
      <p:sp>
        <p:nvSpPr>
          <p:cNvPr id="23" name="Text 21"/>
          <p:cNvSpPr/>
          <p:nvPr/>
        </p:nvSpPr>
        <p:spPr>
          <a:xfrm>
            <a:off x="960120" y="3602736"/>
            <a:ext cx="7589520" cy="237744"/>
          </a:xfrm>
          <a:prstGeom prst="rect">
            <a:avLst/>
          </a:prstGeom>
          <a:noFill/>
          <a:ln/>
        </p:spPr>
        <p:txBody>
          <a:bodyPr wrap="square" lIns="0" tIns="0" rIns="0" bIns="0" rtlCol="0" anchor="ctr"/>
          <a:lstStyle/>
          <a:p>
            <a:pPr indent="0" marL="0">
              <a:buNone/>
            </a:pPr>
            <a:r>
              <a:rPr lang="en-US" sz="1050" dirty="0">
                <a:solidFill>
                  <a:srgbClr val="CADCF5"/>
                </a:solidFill>
              </a:rPr>
              <a:t>Adding TF-IDF cosine features (f6, f7) to OHE improves semantic discrimination in both models</a:t>
            </a:r>
            <a:endParaRPr lang="en-US" sz="1050" dirty="0"/>
          </a:p>
        </p:txBody>
      </p:sp>
      <p:sp>
        <p:nvSpPr>
          <p:cNvPr id="24" name="Shape 22"/>
          <p:cNvSpPr/>
          <p:nvPr/>
        </p:nvSpPr>
        <p:spPr>
          <a:xfrm>
            <a:off x="457200" y="4023360"/>
            <a:ext cx="8229600" cy="804672"/>
          </a:xfrm>
          <a:prstGeom prst="rect">
            <a:avLst/>
          </a:prstGeom>
          <a:solidFill>
            <a:srgbClr val="162640"/>
          </a:solidFill>
          <a:ln w="9525">
            <a:solidFill>
              <a:srgbClr val="2563A8"/>
            </a:solidFill>
            <a:prstDash val="solid"/>
          </a:ln>
        </p:spPr>
      </p:sp>
      <p:sp>
        <p:nvSpPr>
          <p:cNvPr id="25" name="Text 23"/>
          <p:cNvSpPr/>
          <p:nvPr/>
        </p:nvSpPr>
        <p:spPr>
          <a:xfrm>
            <a:off x="594360" y="4059936"/>
            <a:ext cx="7955280" cy="201168"/>
          </a:xfrm>
          <a:prstGeom prst="rect">
            <a:avLst/>
          </a:prstGeom>
          <a:noFill/>
          <a:ln/>
        </p:spPr>
        <p:txBody>
          <a:bodyPr wrap="square" lIns="0" tIns="0" rIns="0" bIns="0" rtlCol="0" anchor="ctr"/>
          <a:lstStyle/>
          <a:p>
            <a:pPr indent="0" marL="0">
              <a:buNone/>
            </a:pPr>
            <a:r>
              <a:rPr lang="en-US" sz="1000" b="1" dirty="0">
                <a:solidFill>
                  <a:srgbClr val="F59E0B"/>
                </a:solidFill>
              </a:rPr>
              <a:t>References</a:t>
            </a:r>
            <a:endParaRPr lang="en-US" sz="1000" dirty="0"/>
          </a:p>
        </p:txBody>
      </p:sp>
      <p:sp>
        <p:nvSpPr>
          <p:cNvPr id="26" name="Text 24"/>
          <p:cNvSpPr/>
          <p:nvPr/>
        </p:nvSpPr>
        <p:spPr>
          <a:xfrm>
            <a:off x="594360" y="4242816"/>
            <a:ext cx="7955280" cy="512064"/>
          </a:xfrm>
          <a:prstGeom prst="rect">
            <a:avLst/>
          </a:prstGeom>
          <a:noFill/>
          <a:ln/>
        </p:spPr>
        <p:txBody>
          <a:bodyPr wrap="square" lIns="0" tIns="0" rIns="0" bIns="0" rtlCol="0" anchor="ctr"/>
          <a:lstStyle/>
          <a:p>
            <a:pPr indent="0" marL="0">
              <a:buNone/>
            </a:pPr>
            <a:r>
              <a:rPr lang="en-US" sz="850" dirty="0">
                <a:solidFill>
                  <a:srgbClr val="8AABB8"/>
                </a:solidFill>
              </a:rPr>
              <a:t>Lai et al. EMNLP 2017 (RACE) · Du et al. ACL 2017 (QG) · Zhao et al. EMNLP 2018 · Guo et al. AAAI 2016 · Devlin et al. NAACL 2019 (BERT) · Raffel et al. JMLR 2020 (T5) · Papineni et al. ACL 2002 (BLEU) · Lin ACL 2004 (ROUGE)</a:t>
            </a:r>
            <a:endParaRPr lang="en-US" sz="850" dirty="0"/>
          </a:p>
        </p:txBody>
      </p:sp>
      <p:sp>
        <p:nvSpPr>
          <p:cNvPr id="27" name="Text 25"/>
          <p:cNvSpPr/>
          <p:nvPr/>
        </p:nvSpPr>
        <p:spPr>
          <a:xfrm>
            <a:off x="457200" y="4800600"/>
            <a:ext cx="8229600" cy="274320"/>
          </a:xfrm>
          <a:prstGeom prst="rect">
            <a:avLst/>
          </a:prstGeom>
          <a:noFill/>
          <a:ln/>
        </p:spPr>
        <p:txBody>
          <a:bodyPr wrap="square" rtlCol="0" anchor="ctr"/>
          <a:lstStyle/>
          <a:p>
            <a:pPr algn="ctr" indent="0" marL="0">
              <a:buNone/>
            </a:pPr>
            <a:r>
              <a:rPr lang="en-US" sz="1300" i="1" dirty="0">
                <a:solidFill>
                  <a:srgbClr val="F59E0B"/>
                </a:solidFill>
              </a:rPr>
              <a:t>Thank you — Questions Welcome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Reading Comprehension and Quiz Generation System</dc:title>
  <dc:subject>PptxGenJS Presentation</dc:subject>
  <dc:creator>PptxGenJS</dc:creator>
  <cp:lastModifiedBy>PptxGenJS</cp:lastModifiedBy>
  <cp:revision>1</cp:revision>
  <dcterms:created xsi:type="dcterms:W3CDTF">2026-05-11T02:53:42Z</dcterms:created>
  <dcterms:modified xsi:type="dcterms:W3CDTF">2026-05-11T02:53:42Z</dcterms:modified>
</cp:coreProperties>
</file>